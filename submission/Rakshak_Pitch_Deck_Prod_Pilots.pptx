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r>
              <a:rPr lang="en-GB" sz="1800" b="1">
                <a:latin typeface="Google Sans Flex"/>
                <a:ea typeface="Google Sans Flex"/>
                <a:cs typeface="Google Sans Flex"/>
                <a:sym typeface="Google Sans Flex"/>
              </a:rPr>
              <a:t> Prod Pilots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r>
              <a:rPr lang="en-GB" sz="1800" b="1">
                <a:latin typeface="Google Sans Flex"/>
                <a:ea typeface="Google Sans Flex"/>
                <a:cs typeface="Google Sans Flex"/>
                <a:sym typeface="Google Sans Flex"/>
              </a:rPr>
              <a:t> Lohith DS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r>
              <a:rPr lang="en-GB" sz="1800" b="0">
                <a:latin typeface="Google Sans Flex"/>
                <a:ea typeface="Google Sans Flex"/>
                <a:cs typeface="Google Sans Flex"/>
                <a:sym typeface="Google Sans Flex"/>
              </a:rPr>
              <a:t> BFSI: Intelligent Risk, Fraud and Financial Experiences. Rakshak, a scam-moment guardian that stops authorised-push-payment scams at the moment of payment.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tagline"/>
          <p:cNvSpPr txBox="1"/>
          <p:nvPr/>
        </p:nvSpPr>
        <p:spPr>
          <a:xfrm>
            <a:off x="320040" y="1261872"/>
            <a:ext cx="5257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A73E8"/>
                </a:solidFill>
                <a:latin typeface="Arial"/>
              </a:rPr>
              <a:t>Rakshak: </a:t>
            </a:r>
            <a:r>
              <a:rPr sz="1500" b="1" i="0">
                <a:solidFill>
                  <a:srgbClr val="202124"/>
                </a:solidFill>
                <a:latin typeface="Arial"/>
              </a:rPr>
              <a:t>stop the scam at the moment of payment, not after it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0040" y="1828800"/>
            <a:ext cx="5257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202124"/>
                </a:solidFill>
                <a:latin typeface="Arial"/>
              </a:rPr>
              <a:t>Scam victims now send the money themselves, on a call, under pressure. Bank fraud engines see a genuine customer on a genuine device, and an SMS alert arrives after the money has left.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202124"/>
                </a:solidFill>
                <a:latin typeface="Arial"/>
              </a:rPr>
              <a:t>Rakshak is a guardian built into a bank or UPI app. With the customer's opt-in it listens to a call from an unknown number and scores the caller's coercion live with Gemini. When the customer taps Pay, it fuses that call risk with the payee's mule-account risk from the bank's ledger, and in under 100 ms pauses the payment, explains why in the customer's language, alerts a trusted contact and files an auditable case. An ADK agent confirms with evidence; the customer always keeps an override.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0040" y="3749039"/>
            <a:ext cx="5257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A73E8"/>
                </a:solidFill>
                <a:latin typeface="Arial"/>
              </a:rPr>
              <a:t>Built and deployed</a:t>
            </a:r>
          </a:p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1100" b="0" i="0">
                <a:solidFill>
                  <a:srgbClr val="202124"/>
                </a:solidFill>
                <a:latin typeface="Arial"/>
              </a:rPr>
              <a:t>Customer app (installable PWA), caller phone, family phone and fraud desk on Cloud Run</a:t>
            </a:r>
          </a:p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1100" b="0" i="0">
                <a:solidFill>
                  <a:srgbClr val="202124"/>
                </a:solidFill>
                <a:latin typeface="Arial"/>
              </a:rPr>
              <a:t>Gemini 3.5 and 3.8 models, Google ADK 2.11 agents, Firestore case store</a:t>
            </a:r>
          </a:p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1100" b="0" i="0">
                <a:solidFill>
                  <a:srgbClr val="202124"/>
                </a:solidFill>
                <a:latin typeface="Arial"/>
              </a:rPr>
              <a:t>Live two-way calls between two phones, six languages, 50-call evaluation</a:t>
            </a:r>
          </a:p>
        </p:txBody>
      </p:sp>
      <p:sp>
        <p:nvSpPr>
          <p:cNvPr id="75" name="stat0"/>
          <p:cNvSpPr/>
          <p:nvPr/>
        </p:nvSpPr>
        <p:spPr>
          <a:xfrm>
            <a:off x="5806440" y="1261872"/>
            <a:ext cx="3017520" cy="1115568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5943600" y="1353312"/>
            <a:ext cx="2743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 i="0">
                <a:solidFill>
                  <a:srgbClr val="C5221F"/>
                </a:solidFill>
                <a:latin typeface="Arial"/>
              </a:rPr>
              <a:t>81.8%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0" y="1865376"/>
            <a:ext cx="27432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F6368"/>
                </a:solidFill>
                <a:latin typeface="Arial"/>
              </a:rPr>
              <a:t>of Singapore's 2025 scam cases were transfers the victim made (Singapore Police)</a:t>
            </a:r>
          </a:p>
        </p:txBody>
      </p:sp>
      <p:sp>
        <p:nvSpPr>
          <p:cNvPr id="78" name="stat1"/>
          <p:cNvSpPr/>
          <p:nvPr/>
        </p:nvSpPr>
        <p:spPr>
          <a:xfrm>
            <a:off x="5806440" y="2505456"/>
            <a:ext cx="3017520" cy="1115568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5943600" y="2596896"/>
            <a:ext cx="2743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 i="0">
                <a:solidFill>
                  <a:srgbClr val="C5221F"/>
                </a:solidFill>
                <a:latin typeface="Arial"/>
              </a:rPr>
              <a:t>₹22,495 cr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943600" y="3108960"/>
            <a:ext cx="27432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F6368"/>
                </a:solidFill>
                <a:latin typeface="Arial"/>
              </a:rPr>
              <a:t>lost to cyber fraud in India in 2025, about 24% recovered (MHA via Moneylife)</a:t>
            </a:r>
          </a:p>
        </p:txBody>
      </p:sp>
      <p:sp>
        <p:nvSpPr>
          <p:cNvPr id="81" name="stat2"/>
          <p:cNvSpPr/>
          <p:nvPr/>
        </p:nvSpPr>
        <p:spPr>
          <a:xfrm>
            <a:off x="5806440" y="3749039"/>
            <a:ext cx="3017520" cy="1115568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5943600" y="3840479"/>
            <a:ext cx="2743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 i="0">
                <a:solidFill>
                  <a:srgbClr val="B06000"/>
                </a:solidFill>
                <a:latin typeface="Arial"/>
              </a:rPr>
              <a:t>₹1.56 lakh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943600" y="4352544"/>
            <a:ext cx="27432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F6368"/>
                </a:solidFill>
                <a:latin typeface="Arial"/>
              </a:rPr>
              <a:t>average loss per digital-arrest victim in 2024 (Lok Sabha data)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55778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</p:txBody>
      </p:sp>
      <p:sp>
        <p:nvSpPr>
          <p:cNvPr id="80" name="opp0"/>
          <p:cNvSpPr/>
          <p:nvPr/>
        </p:nvSpPr>
        <p:spPr>
          <a:xfrm>
            <a:off x="320040" y="1261872"/>
            <a:ext cx="2712720" cy="3694176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457200" y="1371600"/>
            <a:ext cx="243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A73E8"/>
                </a:solidFill>
                <a:latin typeface="Arial"/>
              </a:rPr>
              <a:t>How is it different from existing ideas?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7200" y="1828800"/>
            <a:ext cx="2438400" cy="3008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100" b="0" i="0">
                <a:solidFill>
                  <a:srgbClr val="202124"/>
                </a:solidFill>
                <a:latin typeface="Arial"/>
              </a:rPr>
              <a:t>Pixel scam detection: on the handset, warns only, knows nothing about the payee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100" b="0" i="0">
                <a:solidFill>
                  <a:srgbClr val="202124"/>
                </a:solidFill>
                <a:latin typeface="Arial"/>
              </a:rPr>
              <a:t>Call-state signals (FICO Scam Signal, BioCatch): know a call is on, not what is said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100" b="0" i="0">
                <a:solidFill>
                  <a:srgbClr val="202124"/>
                </a:solidFill>
                <a:latin typeface="Arial"/>
              </a:rPr>
              <a:t>Bank fraud engines: blind to the call; the coerced victim passes every check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100" b="0" i="0">
                <a:solidFill>
                  <a:srgbClr val="202124"/>
                </a:solidFill>
                <a:latin typeface="Arial"/>
              </a:rPr>
              <a:t>SMS alerts and 1930: after the money left; about 24% is recovered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100" b="0" i="0">
                <a:solidFill>
                  <a:srgbClr val="202124"/>
                </a:solidFill>
                <a:latin typeface="Arial"/>
              </a:rPr>
              <a:t>Rakshak fuses call semantics with payee mule risk at the moment of authorisation, on the bank side</a:t>
            </a:r>
          </a:p>
        </p:txBody>
      </p:sp>
      <p:sp>
        <p:nvSpPr>
          <p:cNvPr id="83" name="opp1"/>
          <p:cNvSpPr/>
          <p:nvPr/>
        </p:nvSpPr>
        <p:spPr>
          <a:xfrm>
            <a:off x="3215640" y="1261872"/>
            <a:ext cx="2712720" cy="3694176"/>
          </a:xfrm>
          <a:prstGeom prst="roundRect">
            <a:avLst>
              <a:gd name="adj" fmla="val 6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3352800" y="1371600"/>
            <a:ext cx="243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C5221F"/>
                </a:solidFill>
                <a:latin typeface="Arial"/>
              </a:rPr>
              <a:t>How does it solve the problem?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52800" y="1828800"/>
            <a:ext cx="2438400" cy="3008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100" b="0" i="0">
                <a:solidFill>
                  <a:srgbClr val="202124"/>
                </a:solidFill>
                <a:latin typeface="Arial"/>
              </a:rPr>
              <a:t>Listens (opt-in) from the first ring; scores 8 coercion signals live in 6 languages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100" b="0" i="0">
                <a:solidFill>
                  <a:srgbClr val="202124"/>
                </a:solidFill>
                <a:latin typeface="Arial"/>
              </a:rPr>
              <a:t>Whispers privately to the customer when the risk passes 85%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100" b="0" i="0">
                <a:solidFill>
                  <a:srgbClr val="202124"/>
                </a:solidFill>
                <a:latin typeface="Arial"/>
              </a:rPr>
              <a:t>At Pay: graded decision in under 100 ms: proceed, warn, 30-minute hold, or hold plus alert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100" b="0" i="0">
                <a:solidFill>
                  <a:srgbClr val="202124"/>
                </a:solidFill>
                <a:latin typeface="Arial"/>
              </a:rPr>
              <a:t>Speaks the reason, notifies a trusted contact, drafts the fraud-desk case and 1930 referral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100" b="0" i="0">
                <a:solidFill>
                  <a:srgbClr val="202124"/>
                </a:solidFill>
                <a:latin typeface="Arial"/>
              </a:rPr>
              <a:t>Payments within 60 minutes of a high-risk call are still checked</a:t>
            </a:r>
          </a:p>
        </p:txBody>
      </p:sp>
      <p:sp>
        <p:nvSpPr>
          <p:cNvPr id="86" name="opp2"/>
          <p:cNvSpPr/>
          <p:nvPr/>
        </p:nvSpPr>
        <p:spPr>
          <a:xfrm>
            <a:off x="6111240" y="1261872"/>
            <a:ext cx="2712720" cy="3694176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6248400" y="1371600"/>
            <a:ext cx="243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88038"/>
                </a:solidFill>
                <a:latin typeface="Arial"/>
              </a:rPr>
              <a:t>USP of the solution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248400" y="1828800"/>
            <a:ext cx="2438400" cy="3008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100" b="0" i="0">
                <a:solidFill>
                  <a:srgbClr val="202124"/>
                </a:solidFill>
                <a:latin typeface="Arial"/>
              </a:rPr>
              <a:t>Intervention, not an alert: the money does not leave until the customer has had time to think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100" b="0" i="0">
                <a:solidFill>
                  <a:srgbClr val="202124"/>
                </a:solidFill>
                <a:latin typeface="Arial"/>
              </a:rPr>
              <a:t>Explainable: every hold names its evidence; an ADK agent can only make it stricter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100" b="0" i="0">
                <a:solidFill>
                  <a:srgbClr val="202124"/>
                </a:solidFill>
                <a:latin typeface="Arial"/>
              </a:rPr>
              <a:t>Human in the loop: the customer can override by typing the amount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100" b="0" i="0">
                <a:solidFill>
                  <a:srgbClr val="202124"/>
                </a:solidFill>
                <a:latin typeface="Arial"/>
              </a:rPr>
              <a:t>Vernacular voice for the people scammers target most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100" b="0" i="0">
                <a:solidFill>
                  <a:srgbClr val="202124"/>
                </a:solidFill>
                <a:latin typeface="Arial"/>
              </a:rPr>
              <a:t>Privacy tiers: works with no audio, on-device text, or cloud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feat0"/>
          <p:cNvSpPr/>
          <p:nvPr/>
        </p:nvSpPr>
        <p:spPr>
          <a:xfrm>
            <a:off x="320040" y="1261872"/>
            <a:ext cx="2712720" cy="1030224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Oval 88"/>
          <p:cNvSpPr/>
          <p:nvPr/>
        </p:nvSpPr>
        <p:spPr>
          <a:xfrm>
            <a:off x="429768" y="1371600"/>
            <a:ext cx="310896" cy="31089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22960" y="1353312"/>
            <a:ext cx="2118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02124"/>
                </a:solidFill>
                <a:latin typeface="Arial"/>
              </a:rPr>
              <a:t>Live coercion scoring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22960" y="1609343"/>
            <a:ext cx="2118360" cy="646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5F6368"/>
                </a:solidFill>
                <a:latin typeface="Arial"/>
              </a:rPr>
              <a:t>Gemini scores 8 signals (authority, threat, secrecy, urgency, remote app, safe account, investment pressure, OTP) after every sentence</a:t>
            </a:r>
          </a:p>
        </p:txBody>
      </p:sp>
      <p:sp>
        <p:nvSpPr>
          <p:cNvPr id="92" name="feat1"/>
          <p:cNvSpPr/>
          <p:nvPr/>
        </p:nvSpPr>
        <p:spPr>
          <a:xfrm>
            <a:off x="3215640" y="1261872"/>
            <a:ext cx="2712720" cy="1030224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Oval 92"/>
          <p:cNvSpPr/>
          <p:nvPr/>
        </p:nvSpPr>
        <p:spPr>
          <a:xfrm>
            <a:off x="3325368" y="1371600"/>
            <a:ext cx="310896" cy="310896"/>
          </a:xfrm>
          <a:prstGeom prst="ellipse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718560" y="1353312"/>
            <a:ext cx="2118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02124"/>
                </a:solidFill>
                <a:latin typeface="Arial"/>
              </a:rPr>
              <a:t>Private whisper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718560" y="1609343"/>
            <a:ext cx="2118360" cy="646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5F6368"/>
                </a:solidFill>
                <a:latin typeface="Arial"/>
              </a:rPr>
              <a:t>At 85% risk Rakshak warns the customer in their ear; the caller hears nothing</a:t>
            </a:r>
          </a:p>
        </p:txBody>
      </p:sp>
      <p:sp>
        <p:nvSpPr>
          <p:cNvPr id="96" name="feat2"/>
          <p:cNvSpPr/>
          <p:nvPr/>
        </p:nvSpPr>
        <p:spPr>
          <a:xfrm>
            <a:off x="6111240" y="1261872"/>
            <a:ext cx="2712720" cy="1030224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Oval 96"/>
          <p:cNvSpPr/>
          <p:nvPr/>
        </p:nvSpPr>
        <p:spPr>
          <a:xfrm>
            <a:off x="6220968" y="1371600"/>
            <a:ext cx="310896" cy="310896"/>
          </a:xfrm>
          <a:prstGeom prst="ellipse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614160" y="1353312"/>
            <a:ext cx="2118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02124"/>
                </a:solidFill>
                <a:latin typeface="Arial"/>
              </a:rPr>
              <a:t>Payment-moment hold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614160" y="1609343"/>
            <a:ext cx="2118360" cy="646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5F6368"/>
                </a:solidFill>
                <a:latin typeface="Arial"/>
              </a:rPr>
              <a:t>Deterministic fusion of call risk, payee risk and profile decides in under 100 ms</a:t>
            </a:r>
          </a:p>
        </p:txBody>
      </p:sp>
      <p:sp>
        <p:nvSpPr>
          <p:cNvPr id="100" name="feat3"/>
          <p:cNvSpPr/>
          <p:nvPr/>
        </p:nvSpPr>
        <p:spPr>
          <a:xfrm>
            <a:off x="320040" y="2401824"/>
            <a:ext cx="2712720" cy="1030224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Oval 100"/>
          <p:cNvSpPr/>
          <p:nvPr/>
        </p:nvSpPr>
        <p:spPr>
          <a:xfrm>
            <a:off x="429768" y="2511552"/>
            <a:ext cx="310896" cy="31089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22960" y="2493264"/>
            <a:ext cx="2118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02124"/>
                </a:solidFill>
                <a:latin typeface="Arial"/>
              </a:rPr>
              <a:t>Voice barge-in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22960" y="2749295"/>
            <a:ext cx="2118360" cy="646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5F6368"/>
                </a:solidFill>
                <a:latin typeface="Arial"/>
              </a:rPr>
              <a:t>The reason is spoken in the customer's language; Hindi, Hinglish, English, Kannada, Tamil, Singapore English</a:t>
            </a:r>
          </a:p>
        </p:txBody>
      </p:sp>
      <p:sp>
        <p:nvSpPr>
          <p:cNvPr id="104" name="feat4"/>
          <p:cNvSpPr/>
          <p:nvPr/>
        </p:nvSpPr>
        <p:spPr>
          <a:xfrm>
            <a:off x="3215640" y="2401824"/>
            <a:ext cx="2712720" cy="1030224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Oval 104"/>
          <p:cNvSpPr/>
          <p:nvPr/>
        </p:nvSpPr>
        <p:spPr>
          <a:xfrm>
            <a:off x="3325368" y="2511552"/>
            <a:ext cx="310896" cy="310896"/>
          </a:xfrm>
          <a:prstGeom prst="ellipse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718560" y="2493264"/>
            <a:ext cx="2118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02124"/>
                </a:solidFill>
                <a:latin typeface="Arial"/>
              </a:rPr>
              <a:t>Payee mule risk with lineage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718560" y="2749295"/>
            <a:ext cx="2118360" cy="646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5F6368"/>
                </a:solidFill>
                <a:latin typeface="Arial"/>
              </a:rPr>
              <a:t>Fan-in, cash-out, dormancy, account age, telecom risk and 1930 complaints, computed from a live ledger stream</a:t>
            </a:r>
          </a:p>
        </p:txBody>
      </p:sp>
      <p:sp>
        <p:nvSpPr>
          <p:cNvPr id="108" name="feat5"/>
          <p:cNvSpPr/>
          <p:nvPr/>
        </p:nvSpPr>
        <p:spPr>
          <a:xfrm>
            <a:off x="6111240" y="2401824"/>
            <a:ext cx="2712720" cy="1030224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Oval 108"/>
          <p:cNvSpPr/>
          <p:nvPr/>
        </p:nvSpPr>
        <p:spPr>
          <a:xfrm>
            <a:off x="6220968" y="2511552"/>
            <a:ext cx="310896" cy="310896"/>
          </a:xfrm>
          <a:prstGeom prst="ellipse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614160" y="2493264"/>
            <a:ext cx="2118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02124"/>
                </a:solidFill>
                <a:latin typeface="Arial"/>
              </a:rPr>
              <a:t>ADK investigator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614160" y="2749295"/>
            <a:ext cx="2118360" cy="646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5F6368"/>
                </a:solidFill>
                <a:latin typeface="Arial"/>
              </a:rPr>
              <a:t>Two Gemini agents check the payee and official advisories (RBI, CBI, MAS, SEBI) and confirm or upgrade</a:t>
            </a:r>
          </a:p>
        </p:txBody>
      </p:sp>
      <p:sp>
        <p:nvSpPr>
          <p:cNvPr id="112" name="feat6"/>
          <p:cNvSpPr/>
          <p:nvPr/>
        </p:nvSpPr>
        <p:spPr>
          <a:xfrm>
            <a:off x="320040" y="3541775"/>
            <a:ext cx="2712720" cy="1030224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Oval 112"/>
          <p:cNvSpPr/>
          <p:nvPr/>
        </p:nvSpPr>
        <p:spPr>
          <a:xfrm>
            <a:off x="429768" y="3651504"/>
            <a:ext cx="310896" cy="31089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22960" y="3633216"/>
            <a:ext cx="2118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02124"/>
                </a:solidFill>
                <a:latin typeface="Arial"/>
              </a:rPr>
              <a:t>Trusted-contact alert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22960" y="3889247"/>
            <a:ext cx="2118360" cy="646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5F6368"/>
                </a:solidFill>
                <a:latin typeface="Arial"/>
              </a:rPr>
              <a:t>The family phone chimes with the case; also Pub/Sub and SMS hooks</a:t>
            </a:r>
          </a:p>
        </p:txBody>
      </p:sp>
      <p:sp>
        <p:nvSpPr>
          <p:cNvPr id="116" name="feat7"/>
          <p:cNvSpPr/>
          <p:nvPr/>
        </p:nvSpPr>
        <p:spPr>
          <a:xfrm>
            <a:off x="3215640" y="3541775"/>
            <a:ext cx="2712720" cy="1030224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Oval 116"/>
          <p:cNvSpPr/>
          <p:nvPr/>
        </p:nvSpPr>
        <p:spPr>
          <a:xfrm>
            <a:off x="3325368" y="3651504"/>
            <a:ext cx="310896" cy="310896"/>
          </a:xfrm>
          <a:prstGeom prst="ellipse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718560" y="3633216"/>
            <a:ext cx="2118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02124"/>
                </a:solidFill>
                <a:latin typeface="Arial"/>
              </a:rPr>
              <a:t>Talk to Rakshak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718560" y="3889247"/>
            <a:ext cx="2118360" cy="646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5F6368"/>
                </a:solidFill>
                <a:latin typeface="Arial"/>
              </a:rPr>
              <a:t>Gemini Live voice conversation after the hold, with tools to keep the hold or call family</a:t>
            </a:r>
          </a:p>
        </p:txBody>
      </p:sp>
      <p:sp>
        <p:nvSpPr>
          <p:cNvPr id="120" name="feat8"/>
          <p:cNvSpPr/>
          <p:nvPr/>
        </p:nvSpPr>
        <p:spPr>
          <a:xfrm>
            <a:off x="6111240" y="3541775"/>
            <a:ext cx="2712720" cy="1030224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Oval 120"/>
          <p:cNvSpPr/>
          <p:nvPr/>
        </p:nvSpPr>
        <p:spPr>
          <a:xfrm>
            <a:off x="6220968" y="3651504"/>
            <a:ext cx="310896" cy="310896"/>
          </a:xfrm>
          <a:prstGeom prst="ellipse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614160" y="3633216"/>
            <a:ext cx="2118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02124"/>
                </a:solidFill>
                <a:latin typeface="Arial"/>
              </a:rPr>
              <a:t>Fraud desk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614160" y="3889247"/>
            <a:ext cx="2118360" cy="646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5F6368"/>
                </a:solidFill>
                <a:latin typeface="Arial"/>
              </a:rPr>
              <a:t>Case timeline, agent trace, drafted 1930 referral, and the SMS-versus-Rakshak contrast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20040" y="4681728"/>
            <a:ext cx="8503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5F6368"/>
                </a:solidFill>
                <a:latin typeface="Arial"/>
              </a:rPr>
              <a:t>Also: </a:t>
            </a:r>
            <a:r>
              <a:rPr sz="1000" b="0" i="0">
                <a:solidFill>
                  <a:srgbClr val="5F6368"/>
                </a:solidFill>
                <a:latin typeface="Arial"/>
              </a:rPr>
              <a:t>post-call carry-over (60 minutes), practice drill for elderly users, PIN-hidden balance, live two-way call between phones, installable app.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320040" y="1289304"/>
            <a:ext cx="10058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73E8"/>
                </a:solidFill>
                <a:latin typeface="Arial"/>
              </a:rPr>
              <a:t>During the call</a:t>
            </a:r>
          </a:p>
        </p:txBody>
      </p:sp>
      <p:sp>
        <p:nvSpPr>
          <p:cNvPr id="97" name="flow00"/>
          <p:cNvSpPr/>
          <p:nvPr/>
        </p:nvSpPr>
        <p:spPr>
          <a:xfrm>
            <a:off x="1371600" y="1307592"/>
            <a:ext cx="1719072" cy="786384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Oval 97"/>
          <p:cNvSpPr/>
          <p:nvPr/>
        </p:nvSpPr>
        <p:spPr>
          <a:xfrm>
            <a:off x="1444752" y="1380744"/>
            <a:ext cx="274320" cy="27432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773936" y="1371600"/>
            <a:ext cx="1261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02124"/>
                </a:solidFill>
                <a:latin typeface="Arial"/>
              </a:rPr>
              <a:t>Caller rings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463040" y="1673352"/>
            <a:ext cx="15544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5F6368"/>
                </a:solidFill>
                <a:latin typeface="Arial"/>
              </a:rPr>
              <a:t>unknown number; Guardian mode on (opt-in)</a:t>
            </a:r>
          </a:p>
        </p:txBody>
      </p:sp>
      <p:sp>
        <p:nvSpPr>
          <p:cNvPr id="101" name="Right Arrow 100"/>
          <p:cNvSpPr/>
          <p:nvPr/>
        </p:nvSpPr>
        <p:spPr>
          <a:xfrm>
            <a:off x="3108960" y="1609343"/>
            <a:ext cx="210312" cy="182880"/>
          </a:xfrm>
          <a:prstGeom prst="rightArrow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low01"/>
          <p:cNvSpPr/>
          <p:nvPr/>
        </p:nvSpPr>
        <p:spPr>
          <a:xfrm>
            <a:off x="3337560" y="1307592"/>
            <a:ext cx="1719072" cy="786384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Oval 102"/>
          <p:cNvSpPr/>
          <p:nvPr/>
        </p:nvSpPr>
        <p:spPr>
          <a:xfrm>
            <a:off x="3410712" y="1380744"/>
            <a:ext cx="274320" cy="27432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739896" y="1371600"/>
            <a:ext cx="1261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02124"/>
                </a:solidFill>
                <a:latin typeface="Arial"/>
              </a:rPr>
              <a:t>Live transcription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429000" y="1673352"/>
            <a:ext cx="15544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5F6368"/>
                </a:solidFill>
                <a:latin typeface="Arial"/>
              </a:rPr>
              <a:t>Gemini 3.5 Transcribe Live, one stream per speaker</a:t>
            </a:r>
          </a:p>
        </p:txBody>
      </p:sp>
      <p:sp>
        <p:nvSpPr>
          <p:cNvPr id="106" name="Right Arrow 105"/>
          <p:cNvSpPr/>
          <p:nvPr/>
        </p:nvSpPr>
        <p:spPr>
          <a:xfrm>
            <a:off x="5074919" y="1609343"/>
            <a:ext cx="210312" cy="182880"/>
          </a:xfrm>
          <a:prstGeom prst="rightArrow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low02"/>
          <p:cNvSpPr/>
          <p:nvPr/>
        </p:nvSpPr>
        <p:spPr>
          <a:xfrm>
            <a:off x="5303520" y="1307592"/>
            <a:ext cx="1719072" cy="786384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Oval 107"/>
          <p:cNvSpPr/>
          <p:nvPr/>
        </p:nvSpPr>
        <p:spPr>
          <a:xfrm>
            <a:off x="5376672" y="1380744"/>
            <a:ext cx="274320" cy="27432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705856" y="1371600"/>
            <a:ext cx="1261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02124"/>
                </a:solidFill>
                <a:latin typeface="Arial"/>
              </a:rPr>
              <a:t>Coercion rubric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394959" y="1673352"/>
            <a:ext cx="15544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5F6368"/>
                </a:solidFill>
                <a:latin typeface="Arial"/>
              </a:rPr>
              <a:t>Gemini 3.5 Flash, JSON, 8 signals, every sentence</a:t>
            </a:r>
          </a:p>
        </p:txBody>
      </p:sp>
      <p:sp>
        <p:nvSpPr>
          <p:cNvPr id="111" name="Right Arrow 110"/>
          <p:cNvSpPr/>
          <p:nvPr/>
        </p:nvSpPr>
        <p:spPr>
          <a:xfrm>
            <a:off x="7040879" y="1609343"/>
            <a:ext cx="210312" cy="182880"/>
          </a:xfrm>
          <a:prstGeom prst="rightArrow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low03"/>
          <p:cNvSpPr/>
          <p:nvPr/>
        </p:nvSpPr>
        <p:spPr>
          <a:xfrm>
            <a:off x="7269479" y="1307592"/>
            <a:ext cx="1719072" cy="786384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Oval 112"/>
          <p:cNvSpPr/>
          <p:nvPr/>
        </p:nvSpPr>
        <p:spPr>
          <a:xfrm>
            <a:off x="7342631" y="1380744"/>
            <a:ext cx="274320" cy="27432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671815" y="1371600"/>
            <a:ext cx="1261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02124"/>
                </a:solidFill>
                <a:latin typeface="Arial"/>
              </a:rPr>
              <a:t>Private whisper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360919" y="1673352"/>
            <a:ext cx="15544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5F6368"/>
                </a:solidFill>
                <a:latin typeface="Arial"/>
              </a:rPr>
              <a:t>at 85% risk, Gemini 3.8 Flash TTS</a:t>
            </a:r>
          </a:p>
        </p:txBody>
      </p:sp>
      <p:sp>
        <p:nvSpPr>
          <p:cNvPr id="116" name="Down Arrow 115"/>
          <p:cNvSpPr/>
          <p:nvPr/>
        </p:nvSpPr>
        <p:spPr>
          <a:xfrm>
            <a:off x="8037575" y="2148840"/>
            <a:ext cx="182880" cy="274320"/>
          </a:xfrm>
          <a:prstGeom prst="downArrow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20040" y="2505456"/>
            <a:ext cx="10058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C5221F"/>
                </a:solidFill>
                <a:latin typeface="Arial"/>
              </a:rPr>
              <a:t>At the moment of payment</a:t>
            </a:r>
          </a:p>
        </p:txBody>
      </p:sp>
      <p:sp>
        <p:nvSpPr>
          <p:cNvPr id="118" name="flow10"/>
          <p:cNvSpPr/>
          <p:nvPr/>
        </p:nvSpPr>
        <p:spPr>
          <a:xfrm>
            <a:off x="1371600" y="2523744"/>
            <a:ext cx="1719072" cy="786384"/>
          </a:xfrm>
          <a:prstGeom prst="roundRect">
            <a:avLst>
              <a:gd name="adj" fmla="val 6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Oval 118"/>
          <p:cNvSpPr/>
          <p:nvPr/>
        </p:nvSpPr>
        <p:spPr>
          <a:xfrm>
            <a:off x="1444752" y="2596896"/>
            <a:ext cx="274320" cy="274320"/>
          </a:xfrm>
          <a:prstGeom prst="ellipse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773936" y="2587751"/>
            <a:ext cx="1261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02124"/>
                </a:solidFill>
                <a:latin typeface="Arial"/>
              </a:rPr>
              <a:t>Customer taps Pay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463040" y="2889503"/>
            <a:ext cx="15544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5F6368"/>
                </a:solidFill>
                <a:latin typeface="Arial"/>
              </a:rPr>
              <a:t>during the call or within 60 min after</a:t>
            </a:r>
          </a:p>
        </p:txBody>
      </p:sp>
      <p:sp>
        <p:nvSpPr>
          <p:cNvPr id="122" name="Right Arrow 121"/>
          <p:cNvSpPr/>
          <p:nvPr/>
        </p:nvSpPr>
        <p:spPr>
          <a:xfrm>
            <a:off x="3108960" y="2825496"/>
            <a:ext cx="210312" cy="182880"/>
          </a:xfrm>
          <a:prstGeom prst="rightArrow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low11"/>
          <p:cNvSpPr/>
          <p:nvPr/>
        </p:nvSpPr>
        <p:spPr>
          <a:xfrm>
            <a:off x="3337560" y="2523744"/>
            <a:ext cx="1719072" cy="786384"/>
          </a:xfrm>
          <a:prstGeom prst="roundRect">
            <a:avLst>
              <a:gd name="adj" fmla="val 6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Oval 123"/>
          <p:cNvSpPr/>
          <p:nvPr/>
        </p:nvSpPr>
        <p:spPr>
          <a:xfrm>
            <a:off x="3410712" y="2596896"/>
            <a:ext cx="274320" cy="274320"/>
          </a:xfrm>
          <a:prstGeom prst="ellipse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739896" y="2587751"/>
            <a:ext cx="1261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02124"/>
                </a:solidFill>
                <a:latin typeface="Arial"/>
              </a:rPr>
              <a:t>Fusion policy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429000" y="2889503"/>
            <a:ext cx="15544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5F6368"/>
                </a:solidFill>
                <a:latin typeface="Arial"/>
              </a:rPr>
              <a:t>0.65 call + 0.35 payee + profile, under 100 ms</a:t>
            </a:r>
          </a:p>
        </p:txBody>
      </p:sp>
      <p:sp>
        <p:nvSpPr>
          <p:cNvPr id="127" name="Right Arrow 126"/>
          <p:cNvSpPr/>
          <p:nvPr/>
        </p:nvSpPr>
        <p:spPr>
          <a:xfrm>
            <a:off x="5074919" y="2825496"/>
            <a:ext cx="210312" cy="182880"/>
          </a:xfrm>
          <a:prstGeom prst="rightArrow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low12"/>
          <p:cNvSpPr/>
          <p:nvPr/>
        </p:nvSpPr>
        <p:spPr>
          <a:xfrm>
            <a:off x="5303520" y="2523744"/>
            <a:ext cx="1719072" cy="786384"/>
          </a:xfrm>
          <a:prstGeom prst="roundRect">
            <a:avLst>
              <a:gd name="adj" fmla="val 6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Oval 128"/>
          <p:cNvSpPr/>
          <p:nvPr/>
        </p:nvSpPr>
        <p:spPr>
          <a:xfrm>
            <a:off x="5376672" y="2596896"/>
            <a:ext cx="274320" cy="274320"/>
          </a:xfrm>
          <a:prstGeom prst="ellipse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705856" y="2587751"/>
            <a:ext cx="1261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02124"/>
                </a:solidFill>
                <a:latin typeface="Arial"/>
              </a:rPr>
              <a:t>Graded action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394959" y="2889503"/>
            <a:ext cx="15544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5F6368"/>
                </a:solidFill>
                <a:latin typeface="Arial"/>
              </a:rPr>
              <a:t>proceed, warn, 30-min hold, hold + alert</a:t>
            </a:r>
          </a:p>
        </p:txBody>
      </p:sp>
      <p:sp>
        <p:nvSpPr>
          <p:cNvPr id="132" name="Right Arrow 131"/>
          <p:cNvSpPr/>
          <p:nvPr/>
        </p:nvSpPr>
        <p:spPr>
          <a:xfrm>
            <a:off x="7040879" y="2825496"/>
            <a:ext cx="210312" cy="182880"/>
          </a:xfrm>
          <a:prstGeom prst="rightArrow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low13"/>
          <p:cNvSpPr/>
          <p:nvPr/>
        </p:nvSpPr>
        <p:spPr>
          <a:xfrm>
            <a:off x="7269479" y="2523744"/>
            <a:ext cx="1719072" cy="786384"/>
          </a:xfrm>
          <a:prstGeom prst="roundRect">
            <a:avLst>
              <a:gd name="adj" fmla="val 6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Oval 133"/>
          <p:cNvSpPr/>
          <p:nvPr/>
        </p:nvSpPr>
        <p:spPr>
          <a:xfrm>
            <a:off x="7342631" y="2596896"/>
            <a:ext cx="274320" cy="274320"/>
          </a:xfrm>
          <a:prstGeom prst="ellipse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671815" y="2587751"/>
            <a:ext cx="1261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02124"/>
                </a:solidFill>
                <a:latin typeface="Arial"/>
              </a:rPr>
              <a:t>ADK agents confirm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360919" y="2889503"/>
            <a:ext cx="15544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5F6368"/>
                </a:solidFill>
                <a:latin typeface="Arial"/>
              </a:rPr>
              <a:t>payee ledger + official advisories; never relax</a:t>
            </a:r>
          </a:p>
        </p:txBody>
      </p:sp>
      <p:sp>
        <p:nvSpPr>
          <p:cNvPr id="137" name="Down Arrow 136"/>
          <p:cNvSpPr/>
          <p:nvPr/>
        </p:nvSpPr>
        <p:spPr>
          <a:xfrm>
            <a:off x="8037575" y="3364991"/>
            <a:ext cx="182880" cy="274320"/>
          </a:xfrm>
          <a:prstGeom prst="downArrow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20040" y="3721608"/>
            <a:ext cx="10058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88038"/>
                </a:solidFill>
                <a:latin typeface="Arial"/>
              </a:rPr>
              <a:t>After the decision</a:t>
            </a:r>
          </a:p>
        </p:txBody>
      </p:sp>
      <p:sp>
        <p:nvSpPr>
          <p:cNvPr id="139" name="flow20"/>
          <p:cNvSpPr/>
          <p:nvPr/>
        </p:nvSpPr>
        <p:spPr>
          <a:xfrm>
            <a:off x="1371600" y="3739896"/>
            <a:ext cx="1719072" cy="786384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Oval 139"/>
          <p:cNvSpPr/>
          <p:nvPr/>
        </p:nvSpPr>
        <p:spPr>
          <a:xfrm>
            <a:off x="1444752" y="3813048"/>
            <a:ext cx="274320" cy="274320"/>
          </a:xfrm>
          <a:prstGeom prst="ellipse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773936" y="3803904"/>
            <a:ext cx="1261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02124"/>
                </a:solidFill>
                <a:latin typeface="Arial"/>
              </a:rPr>
              <a:t>Voice + family alert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463040" y="4105656"/>
            <a:ext cx="15544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5F6368"/>
                </a:solidFill>
                <a:latin typeface="Arial"/>
              </a:rPr>
              <a:t>reason spoken; trusted contact notified</a:t>
            </a:r>
          </a:p>
        </p:txBody>
      </p:sp>
      <p:sp>
        <p:nvSpPr>
          <p:cNvPr id="143" name="Right Arrow 142"/>
          <p:cNvSpPr/>
          <p:nvPr/>
        </p:nvSpPr>
        <p:spPr>
          <a:xfrm>
            <a:off x="3108960" y="4041648"/>
            <a:ext cx="210312" cy="182880"/>
          </a:xfrm>
          <a:prstGeom prst="rightArrow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flow21"/>
          <p:cNvSpPr/>
          <p:nvPr/>
        </p:nvSpPr>
        <p:spPr>
          <a:xfrm>
            <a:off x="3337560" y="3739896"/>
            <a:ext cx="1719072" cy="786384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Oval 144"/>
          <p:cNvSpPr/>
          <p:nvPr/>
        </p:nvSpPr>
        <p:spPr>
          <a:xfrm>
            <a:off x="3410712" y="3813048"/>
            <a:ext cx="274320" cy="274320"/>
          </a:xfrm>
          <a:prstGeom prst="ellipse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739896" y="3803904"/>
            <a:ext cx="1261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02124"/>
                </a:solidFill>
                <a:latin typeface="Arial"/>
              </a:rPr>
              <a:t>Customer choice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429000" y="4105656"/>
            <a:ext cx="15544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5F6368"/>
                </a:solidFill>
                <a:latin typeface="Arial"/>
              </a:rPr>
              <a:t>cancel, Talk to Rakshak (Gemini Live), or typed override</a:t>
            </a:r>
          </a:p>
        </p:txBody>
      </p:sp>
      <p:sp>
        <p:nvSpPr>
          <p:cNvPr id="148" name="Right Arrow 147"/>
          <p:cNvSpPr/>
          <p:nvPr/>
        </p:nvSpPr>
        <p:spPr>
          <a:xfrm>
            <a:off x="5074919" y="4041648"/>
            <a:ext cx="210312" cy="182880"/>
          </a:xfrm>
          <a:prstGeom prst="rightArrow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flow22"/>
          <p:cNvSpPr/>
          <p:nvPr/>
        </p:nvSpPr>
        <p:spPr>
          <a:xfrm>
            <a:off x="5303520" y="3739896"/>
            <a:ext cx="1719072" cy="786384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" name="Oval 149"/>
          <p:cNvSpPr/>
          <p:nvPr/>
        </p:nvSpPr>
        <p:spPr>
          <a:xfrm>
            <a:off x="5376672" y="3813048"/>
            <a:ext cx="274320" cy="274320"/>
          </a:xfrm>
          <a:prstGeom prst="ellipse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705856" y="3803904"/>
            <a:ext cx="1261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02124"/>
                </a:solidFill>
                <a:latin typeface="Arial"/>
              </a:rPr>
              <a:t>Fraud desk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394959" y="4105656"/>
            <a:ext cx="15544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5F6368"/>
                </a:solidFill>
                <a:latin typeface="Arial"/>
              </a:rPr>
              <a:t>case in Firestore, agent trace, drafted 1930 referral</a:t>
            </a:r>
          </a:p>
        </p:txBody>
      </p:sp>
      <p:sp>
        <p:nvSpPr>
          <p:cNvPr id="153" name="Right Arrow 152"/>
          <p:cNvSpPr/>
          <p:nvPr/>
        </p:nvSpPr>
        <p:spPr>
          <a:xfrm>
            <a:off x="7040879" y="4041648"/>
            <a:ext cx="210312" cy="182880"/>
          </a:xfrm>
          <a:prstGeom prst="rightArrow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flow23"/>
          <p:cNvSpPr/>
          <p:nvPr/>
        </p:nvSpPr>
        <p:spPr>
          <a:xfrm>
            <a:off x="7269479" y="3739896"/>
            <a:ext cx="1719072" cy="786384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Oval 154"/>
          <p:cNvSpPr/>
          <p:nvPr/>
        </p:nvSpPr>
        <p:spPr>
          <a:xfrm>
            <a:off x="7342631" y="3813048"/>
            <a:ext cx="274320" cy="274320"/>
          </a:xfrm>
          <a:prstGeom prst="ellipse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71815" y="3803904"/>
            <a:ext cx="1261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02124"/>
                </a:solidFill>
                <a:latin typeface="Arial"/>
              </a:rPr>
              <a:t>Bank acts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360919" y="4105656"/>
            <a:ext cx="15544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5F6368"/>
                </a:solidFill>
                <a:latin typeface="Arial"/>
              </a:rPr>
              <a:t>freeze review of the mule account; customer follow-up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04" name="wire0" descr="p_ho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261872"/>
            <a:ext cx="1400370" cy="315468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05" name="TextBox 104"/>
          <p:cNvSpPr txBox="1"/>
          <p:nvPr/>
        </p:nvSpPr>
        <p:spPr>
          <a:xfrm>
            <a:off x="228599" y="4462272"/>
            <a:ext cx="158325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5F6368"/>
                </a:solidFill>
                <a:latin typeface="Arial"/>
              </a:rPr>
              <a:t>Home: Guardian on, balance hidden by PIN</a:t>
            </a:r>
          </a:p>
        </p:txBody>
      </p:sp>
      <p:sp>
        <p:nvSpPr>
          <p:cNvPr id="106" name="Right Arrow 105"/>
          <p:cNvSpPr/>
          <p:nvPr/>
        </p:nvSpPr>
        <p:spPr>
          <a:xfrm>
            <a:off x="1798440" y="2747772"/>
            <a:ext cx="219456" cy="182880"/>
          </a:xfrm>
          <a:prstGeom prst="rightArrow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7" name="wire1" descr="p_incom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927" y="1261872"/>
            <a:ext cx="1400370" cy="315468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08" name="TextBox 107"/>
          <p:cNvSpPr txBox="1"/>
          <p:nvPr/>
        </p:nvSpPr>
        <p:spPr>
          <a:xfrm>
            <a:off x="2004487" y="4462272"/>
            <a:ext cx="158325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5F6368"/>
                </a:solidFill>
                <a:latin typeface="Arial"/>
              </a:rPr>
              <a:t>Unknown number rings</a:t>
            </a:r>
          </a:p>
        </p:txBody>
      </p:sp>
      <p:sp>
        <p:nvSpPr>
          <p:cNvPr id="109" name="Right Arrow 108"/>
          <p:cNvSpPr/>
          <p:nvPr/>
        </p:nvSpPr>
        <p:spPr>
          <a:xfrm>
            <a:off x="3574328" y="2747772"/>
            <a:ext cx="219456" cy="182880"/>
          </a:xfrm>
          <a:prstGeom prst="rightArrow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0" name="wire2" descr="p_ris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71814" y="1261872"/>
            <a:ext cx="1400370" cy="315468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11" name="TextBox 110"/>
          <p:cNvSpPr txBox="1"/>
          <p:nvPr/>
        </p:nvSpPr>
        <p:spPr>
          <a:xfrm>
            <a:off x="3780374" y="4462272"/>
            <a:ext cx="158325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5F6368"/>
                </a:solidFill>
                <a:latin typeface="Arial"/>
              </a:rPr>
              <a:t>Live risk 100%, whisper, reasons</a:t>
            </a:r>
          </a:p>
        </p:txBody>
      </p:sp>
      <p:sp>
        <p:nvSpPr>
          <p:cNvPr id="112" name="Right Arrow 111"/>
          <p:cNvSpPr/>
          <p:nvPr/>
        </p:nvSpPr>
        <p:spPr>
          <a:xfrm>
            <a:off x="5350215" y="2747772"/>
            <a:ext cx="219456" cy="182880"/>
          </a:xfrm>
          <a:prstGeom prst="rightArrow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3" name="wire3" descr="p_pa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47702" y="1261872"/>
            <a:ext cx="1400370" cy="315468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14" name="TextBox 113"/>
          <p:cNvSpPr txBox="1"/>
          <p:nvPr/>
        </p:nvSpPr>
        <p:spPr>
          <a:xfrm>
            <a:off x="5556262" y="4462272"/>
            <a:ext cx="158325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5F6368"/>
                </a:solidFill>
                <a:latin typeface="Arial"/>
              </a:rPr>
              <a:t>Pay screen knows a call is on</a:t>
            </a:r>
          </a:p>
        </p:txBody>
      </p:sp>
      <p:sp>
        <p:nvSpPr>
          <p:cNvPr id="115" name="Right Arrow 114"/>
          <p:cNvSpPr/>
          <p:nvPr/>
        </p:nvSpPr>
        <p:spPr>
          <a:xfrm>
            <a:off x="7126103" y="2747772"/>
            <a:ext cx="219456" cy="182880"/>
          </a:xfrm>
          <a:prstGeom prst="rightArrow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6" name="wire4" descr="p_hol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3589" y="1261872"/>
            <a:ext cx="1400370" cy="315468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17" name="TextBox 116"/>
          <p:cNvSpPr txBox="1"/>
          <p:nvPr/>
        </p:nvSpPr>
        <p:spPr>
          <a:xfrm>
            <a:off x="7332149" y="4462272"/>
            <a:ext cx="158325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5F6368"/>
                </a:solidFill>
                <a:latin typeface="Arial"/>
              </a:rPr>
              <a:t>Payment paused, reason spoken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12" name="architecture" descr="architecture_h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243584"/>
            <a:ext cx="8503920" cy="3324796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320040" y="4623244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1A73E8"/>
                </a:solidFill>
                <a:latin typeface="Arial"/>
              </a:rPr>
              <a:t>Google Cloud: </a:t>
            </a:r>
            <a:r>
              <a:rPr sz="900" b="0" i="0">
                <a:solidFill>
                  <a:srgbClr val="5F6368"/>
                </a:solidFill>
                <a:latin typeface="Arial"/>
              </a:rPr>
              <a:t>Cloud Run (FastAPI, WebSockets, one always-on instance) · Gemini on Vertex AI and the Gemini API · ADK 2.11 · Firestore case store (Firebase) · Pub/Sub alerts · BigQuery ledger SQL · Secret Manager. Firebase Hosting serves the same app at https://fde-cloud-run-lab-123456.web.app.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0" name="tech0"/>
          <p:cNvSpPr/>
          <p:nvPr/>
        </p:nvSpPr>
        <p:spPr>
          <a:xfrm>
            <a:off x="320040" y="1261872"/>
            <a:ext cx="2712720" cy="1778508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TextBox 120"/>
          <p:cNvSpPr txBox="1"/>
          <p:nvPr/>
        </p:nvSpPr>
        <p:spPr>
          <a:xfrm>
            <a:off x="448056" y="1335024"/>
            <a:ext cx="24566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A73E8"/>
                </a:solidFill>
                <a:latin typeface="Arial"/>
              </a:rPr>
              <a:t>Gemini models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48056" y="1645919"/>
            <a:ext cx="245668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950" b="0" i="0">
                <a:solidFill>
                  <a:srgbClr val="202124"/>
                </a:solidFill>
                <a:latin typeface="Arial"/>
              </a:rPr>
              <a:t>3.5 Flash: coercion rubric (JSON), ADK agents, case narrative</a:t>
            </a:r>
          </a:p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950" b="0" i="0">
                <a:solidFill>
                  <a:srgbClr val="202124"/>
                </a:solidFill>
                <a:latin typeface="Arial"/>
              </a:rPr>
              <a:t>3.5 Transcribe Live: one live stream per speaker</a:t>
            </a:r>
          </a:p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950" b="0" i="0">
                <a:solidFill>
                  <a:srgbClr val="202124"/>
                </a:solidFill>
                <a:latin typeface="Arial"/>
              </a:rPr>
              <a:t>3.8 Flash TTS: whisper and spoken hold</a:t>
            </a:r>
          </a:p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950" b="0" i="0">
                <a:solidFill>
                  <a:srgbClr val="202124"/>
                </a:solidFill>
                <a:latin typeface="Arial"/>
              </a:rPr>
              <a:t>3.8 Live: voice conversation with tools</a:t>
            </a:r>
          </a:p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950" b="0" i="0">
                <a:solidFill>
                  <a:srgbClr val="202124"/>
                </a:solidFill>
                <a:latin typeface="Arial"/>
              </a:rPr>
              <a:t>3.8 Flash: agent fallback</a:t>
            </a:r>
          </a:p>
        </p:txBody>
      </p:sp>
      <p:sp>
        <p:nvSpPr>
          <p:cNvPr id="123" name="tech1"/>
          <p:cNvSpPr/>
          <p:nvPr/>
        </p:nvSpPr>
        <p:spPr>
          <a:xfrm>
            <a:off x="3215640" y="1261872"/>
            <a:ext cx="2712720" cy="1778508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TextBox 123"/>
          <p:cNvSpPr txBox="1"/>
          <p:nvPr/>
        </p:nvSpPr>
        <p:spPr>
          <a:xfrm>
            <a:off x="3343656" y="1335024"/>
            <a:ext cx="24566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C5221F"/>
                </a:solidFill>
                <a:latin typeface="Arial"/>
              </a:rPr>
              <a:t>Agents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343656" y="1645919"/>
            <a:ext cx="245668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950" b="0" i="0">
                <a:solidFill>
                  <a:srgbClr val="202124"/>
                </a:solidFill>
                <a:latin typeface="Arial"/>
              </a:rPr>
              <a:t>Google ADK 2.11 SequentialAgent</a:t>
            </a:r>
          </a:p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950" b="0" i="0">
                <a:solidFill>
                  <a:srgbClr val="202124"/>
                </a:solidFill>
                <a:latin typeface="Arial"/>
              </a:rPr>
              <a:t>risk_investigator: payee ledger + official advisories, Search grounding fallback</a:t>
            </a:r>
          </a:p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950" b="0" i="0">
                <a:solidFill>
                  <a:srgbClr val="202124"/>
                </a:solidFill>
                <a:latin typeface="Arial"/>
              </a:rPr>
              <a:t>decision_agent: place_payment_hold tool</a:t>
            </a:r>
          </a:p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950" b="0" i="0">
                <a:solidFill>
                  <a:srgbClr val="202124"/>
                </a:solidFill>
                <a:latin typeface="Arial"/>
              </a:rPr>
              <a:t>Policy floor: agents can only make it stricter</a:t>
            </a:r>
          </a:p>
        </p:txBody>
      </p:sp>
      <p:sp>
        <p:nvSpPr>
          <p:cNvPr id="126" name="tech2"/>
          <p:cNvSpPr/>
          <p:nvPr/>
        </p:nvSpPr>
        <p:spPr>
          <a:xfrm>
            <a:off x="6111240" y="1261872"/>
            <a:ext cx="2712720" cy="1778508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TextBox 126"/>
          <p:cNvSpPr txBox="1"/>
          <p:nvPr/>
        </p:nvSpPr>
        <p:spPr>
          <a:xfrm>
            <a:off x="6239256" y="1335024"/>
            <a:ext cx="24566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88038"/>
                </a:solidFill>
                <a:latin typeface="Arial"/>
              </a:rPr>
              <a:t>Serving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39256" y="1645919"/>
            <a:ext cx="245668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950" b="0" i="0">
                <a:solidFill>
                  <a:srgbClr val="202124"/>
                </a:solidFill>
                <a:latin typeface="Arial"/>
              </a:rPr>
              <a:t>Cloud Run, asia-southeast1, WebSockets, session affinity</a:t>
            </a:r>
          </a:p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950" b="0" i="0">
                <a:solidFill>
                  <a:srgbClr val="202124"/>
                </a:solidFill>
                <a:latin typeface="Arial"/>
              </a:rPr>
              <a:t>FastAPI, Python 3.12, uv</a:t>
            </a:r>
          </a:p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950" b="0" i="0">
                <a:solidFill>
                  <a:srgbClr val="202124"/>
                </a:solidFill>
                <a:latin typeface="Arial"/>
              </a:rPr>
              <a:t>Installable PWA: customer app, caller phone, family phone, fraud desk</a:t>
            </a:r>
          </a:p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950" b="0" i="0">
                <a:solidFill>
                  <a:srgbClr val="202124"/>
                </a:solidFill>
                <a:latin typeface="Arial"/>
              </a:rPr>
              <a:t>Firebase Hosting front door</a:t>
            </a:r>
          </a:p>
        </p:txBody>
      </p:sp>
      <p:sp>
        <p:nvSpPr>
          <p:cNvPr id="129" name="tech3"/>
          <p:cNvSpPr/>
          <p:nvPr/>
        </p:nvSpPr>
        <p:spPr>
          <a:xfrm>
            <a:off x="320040" y="3177540"/>
            <a:ext cx="2712720" cy="1778508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TextBox 129"/>
          <p:cNvSpPr txBox="1"/>
          <p:nvPr/>
        </p:nvSpPr>
        <p:spPr>
          <a:xfrm>
            <a:off x="448056" y="3250692"/>
            <a:ext cx="24566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A73E8"/>
                </a:solidFill>
                <a:latin typeface="Arial"/>
              </a:rPr>
              <a:t>Data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48056" y="3561588"/>
            <a:ext cx="245668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950" b="0" i="0">
                <a:solidFill>
                  <a:srgbClr val="202124"/>
                </a:solidFill>
                <a:latin typeface="Arial"/>
              </a:rPr>
              <a:t>Firestore (Firebase): cases, profiles, alerts</a:t>
            </a:r>
          </a:p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950" b="0" i="0">
                <a:solidFill>
                  <a:srgbClr val="202124"/>
                </a:solidFill>
                <a:latin typeface="Arial"/>
              </a:rPr>
              <a:t>Ledger stream with mule features (same formula as the BigQuery SQL)</a:t>
            </a:r>
          </a:p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950" b="0" i="0">
                <a:solidFill>
                  <a:srgbClr val="202124"/>
                </a:solidFill>
                <a:latin typeface="Arial"/>
              </a:rPr>
              <a:t>Pub/Sub for trusted-contact alerts; BigQuery sink optional</a:t>
            </a:r>
          </a:p>
        </p:txBody>
      </p:sp>
      <p:sp>
        <p:nvSpPr>
          <p:cNvPr id="132" name="tech4"/>
          <p:cNvSpPr/>
          <p:nvPr/>
        </p:nvSpPr>
        <p:spPr>
          <a:xfrm>
            <a:off x="3215640" y="3177540"/>
            <a:ext cx="2712720" cy="1778508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TextBox 132"/>
          <p:cNvSpPr txBox="1"/>
          <p:nvPr/>
        </p:nvSpPr>
        <p:spPr>
          <a:xfrm>
            <a:off x="3343656" y="3250692"/>
            <a:ext cx="24566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C5221F"/>
                </a:solidFill>
                <a:latin typeface="Arial"/>
              </a:rPr>
              <a:t>Security and privacy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343656" y="3561588"/>
            <a:ext cx="245668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950" b="0" i="0">
                <a:solidFill>
                  <a:srgbClr val="202124"/>
                </a:solidFill>
                <a:latin typeface="Arial"/>
              </a:rPr>
              <a:t>Secret Manager for the API key; IAM service account</a:t>
            </a:r>
          </a:p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950" b="0" i="0">
                <a:solidFill>
                  <a:srgbClr val="202124"/>
                </a:solidFill>
                <a:latin typeface="Arial"/>
              </a:rPr>
              <a:t>Opt-in Guardian mode, visible indicator</a:t>
            </a:r>
          </a:p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950" b="0" i="0">
                <a:solidFill>
                  <a:srgbClr val="202124"/>
                </a:solidFill>
                <a:latin typeface="Arial"/>
              </a:rPr>
              <a:t>No raw audio stored; PIN-hidden balance</a:t>
            </a:r>
          </a:p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950" b="0" i="0">
                <a:solidFill>
                  <a:srgbClr val="202124"/>
                </a:solidFill>
                <a:latin typeface="Arial"/>
              </a:rPr>
              <a:t>Typed-amount override, holds expire</a:t>
            </a:r>
          </a:p>
        </p:txBody>
      </p:sp>
      <p:sp>
        <p:nvSpPr>
          <p:cNvPr id="135" name="tech5"/>
          <p:cNvSpPr/>
          <p:nvPr/>
        </p:nvSpPr>
        <p:spPr>
          <a:xfrm>
            <a:off x="6111240" y="3177540"/>
            <a:ext cx="2712720" cy="1778508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TextBox 135"/>
          <p:cNvSpPr txBox="1"/>
          <p:nvPr/>
        </p:nvSpPr>
        <p:spPr>
          <a:xfrm>
            <a:off x="6239256" y="3250692"/>
            <a:ext cx="24566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88038"/>
                </a:solidFill>
                <a:latin typeface="Arial"/>
              </a:rPr>
              <a:t>Quality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239256" y="3561588"/>
            <a:ext cx="245668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950" b="0" i="0">
                <a:solidFill>
                  <a:srgbClr val="202124"/>
                </a:solidFill>
                <a:latin typeface="Arial"/>
              </a:rPr>
              <a:t>50-call labelled evaluation in 6 languages</a:t>
            </a:r>
          </a:p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950" b="0" i="0">
                <a:solidFill>
                  <a:srgbClr val="202124"/>
                </a:solidFill>
                <a:latin typeface="Arial"/>
              </a:rPr>
              <a:t>16 automated tests incl. a 3-day ledger drift test</a:t>
            </a:r>
          </a:p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950" b="0" i="0">
                <a:solidFill>
                  <a:srgbClr val="202124"/>
                </a:solidFill>
                <a:latin typeface="Arial"/>
              </a:rPr>
              <a:t>Live two-device audio smoke test on the public URL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graphicFrame>
        <p:nvGraphicFramePr>
          <p:cNvPr id="128" name="Table 127"/>
          <p:cNvGraphicFramePr>
            <a:graphicFrameLocks noGrp="1"/>
          </p:cNvGraphicFramePr>
          <p:nvPr/>
        </p:nvGraphicFramePr>
        <p:xfrm>
          <a:off x="320040" y="1261872"/>
          <a:ext cx="53949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606040"/>
                <a:gridCol w="96012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Item (per guarded 3-minute call)</a:t>
                      </a:r>
                    </a:p>
                  </a:txBody>
                  <a:tcPr marL="54864" marR="54864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Assumption</a:t>
                      </a:r>
                    </a:p>
                  </a:txBody>
                  <a:tcPr marL="54864" marR="54864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Estimate (USD)</a:t>
                      </a:r>
                    </a:p>
                  </a:txBody>
                  <a:tcPr marL="54864" marR="54864" marT="27432" marB="27432" anchor="ctr">
                    <a:solidFill>
                      <a:srgbClr val="0B1F3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Live transcription, both speakers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Gemini 3.5 Transcribe Live, 360 s of audio at 25 tokens/s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0.03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Coercion rubric</a:t>
                      </a:r>
                    </a:p>
                  </a:txBody>
                  <a:tcPr marL="54864" marR="54864" marT="27432" marB="27432" anchor="ctr">
                    <a:solidFill>
                      <a:srgbClr val="F1F3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about 15 scorings, Gemini 3.5 Flash</a:t>
                      </a:r>
                    </a:p>
                  </a:txBody>
                  <a:tcPr marL="54864" marR="54864" marT="27432" marB="27432" anchor="ctr">
                    <a:solidFill>
                      <a:srgbClr val="F1F3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0.07</a:t>
                      </a:r>
                    </a:p>
                  </a:txBody>
                  <a:tcPr marL="54864" marR="54864" marT="27432" marB="27432" anchor="ctr">
                    <a:solidFill>
                      <a:srgbClr val="F1F3F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ADK agents and case narrative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about 5 Gemini 3.5 Flash calls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0.03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Whisper and spoken hold</a:t>
                      </a:r>
                    </a:p>
                  </a:txBody>
                  <a:tcPr marL="54864" marR="54864" marT="27432" marB="27432" anchor="ctr">
                    <a:solidFill>
                      <a:srgbClr val="F1F3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Gemini 3.8 Flash TTS, about 33 s of audio</a:t>
                      </a:r>
                    </a:p>
                  </a:txBody>
                  <a:tcPr marL="54864" marR="54864" marT="27432" marB="27432" anchor="ctr">
                    <a:solidFill>
                      <a:srgbClr val="F1F3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0.01</a:t>
                      </a:r>
                    </a:p>
                  </a:txBody>
                  <a:tcPr marL="54864" marR="54864" marT="27432" marB="27432" anchor="ctr">
                    <a:solidFill>
                      <a:srgbClr val="F1F3F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Total per guarded call with a hold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list prices, Gemini API, Oct 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about 0.14 (₹12)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9" name="Table 128"/>
          <p:cNvGraphicFramePr>
            <a:graphicFrameLocks noGrp="1"/>
          </p:cNvGraphicFramePr>
          <p:nvPr/>
        </p:nvGraphicFramePr>
        <p:xfrm>
          <a:off x="320040" y="3730752"/>
          <a:ext cx="539496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10312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Infrastructure (prototype)</a:t>
                      </a:r>
                    </a:p>
                  </a:txBody>
                  <a:tcPr marL="54864" marR="54864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Estimate</a:t>
                      </a:r>
                    </a:p>
                  </a:txBody>
                  <a:tcPr marL="54864" marR="54864" marT="27432" marB="27432" anchor="ctr">
                    <a:solidFill>
                      <a:srgbClr val="0B1F3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Cloud Run, 1 always-on instance (1 vCPU, 1 GiB)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about USD 50 to 70 a month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Firestore, Pub/Sub, BigQuery, Secret Manager</a:t>
                      </a:r>
                    </a:p>
                  </a:txBody>
                  <a:tcPr marL="54864" marR="54864" marT="27432" marB="27432" anchor="ctr">
                    <a:solidFill>
                      <a:srgbClr val="F1F3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within free tiers at prototype scale</a:t>
                      </a:r>
                    </a:p>
                  </a:txBody>
                  <a:tcPr marL="54864" marR="54864" marT="27432" marB="27432" anchor="ctr">
                    <a:solidFill>
                      <a:srgbClr val="F1F3F4"/>
                    </a:solidFill>
                  </a:tcPr>
                </a:tc>
              </a:tr>
            </a:tbl>
          </a:graphicData>
        </a:graphic>
      </p:graphicFrame>
      <p:sp>
        <p:nvSpPr>
          <p:cNvPr id="130" name="costcallout"/>
          <p:cNvSpPr/>
          <p:nvPr/>
        </p:nvSpPr>
        <p:spPr>
          <a:xfrm>
            <a:off x="5943600" y="1261872"/>
            <a:ext cx="2880360" cy="2194560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TextBox 130"/>
          <p:cNvSpPr txBox="1"/>
          <p:nvPr/>
        </p:nvSpPr>
        <p:spPr>
          <a:xfrm>
            <a:off x="6080760" y="1371600"/>
            <a:ext cx="2606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188038"/>
                </a:solidFill>
                <a:latin typeface="Arial"/>
              </a:rPr>
              <a:t>₹12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2124"/>
                </a:solidFill>
                <a:latin typeface="Arial"/>
              </a:rPr>
              <a:t>per guarded call that ends in a hold</a:t>
            </a:r>
          </a:p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202124"/>
                </a:solidFill>
                <a:latin typeface="Arial"/>
              </a:rPr>
              <a:t>versus ₹1.56 lakh lost by the average digital-arrest victim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5F6368"/>
                </a:solidFill>
                <a:latin typeface="Arial"/>
              </a:rPr>
              <a:t>Cost is paid only when Guardian mode is on and an unknown number calls.</a:t>
            </a:r>
          </a:p>
        </p:txBody>
      </p:sp>
      <p:sp>
        <p:nvSpPr>
          <p:cNvPr id="132" name="costnotes"/>
          <p:cNvSpPr/>
          <p:nvPr/>
        </p:nvSpPr>
        <p:spPr>
          <a:xfrm>
            <a:off x="5943600" y="3593591"/>
            <a:ext cx="2880360" cy="132588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TextBox 132"/>
          <p:cNvSpPr txBox="1"/>
          <p:nvPr/>
        </p:nvSpPr>
        <p:spPr>
          <a:xfrm>
            <a:off x="6080760" y="3657600"/>
            <a:ext cx="260604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73E8"/>
                </a:solidFill>
                <a:latin typeface="Arial"/>
              </a:rPr>
              <a:t>At bank scale</a:t>
            </a:r>
          </a:p>
          <a:p>
            <a:pPr algn="l" marL="146304" indent="-146304">
              <a:spcAft>
                <a:spcPts val="300"/>
              </a:spcAft>
              <a:buFont typeface="Arial"/>
              <a:buChar char="•"/>
            </a:pPr>
            <a:r>
              <a:rPr sz="900" b="0" i="0">
                <a:solidFill>
                  <a:srgbClr val="202124"/>
                </a:solidFill>
                <a:latin typeface="Arial"/>
              </a:rPr>
              <a:t>Sessions move to Firestore or Memorystore and Cloud Run scales out; agents can move to Agent Runtime.</a:t>
            </a:r>
          </a:p>
          <a:p>
            <a:pPr algn="l" marL="146304" indent="-146304">
              <a:spcAft>
                <a:spcPts val="300"/>
              </a:spcAft>
              <a:buFont typeface="Arial"/>
              <a:buChar char="•"/>
            </a:pPr>
            <a:r>
              <a:rPr sz="900" b="0" i="0">
                <a:solidFill>
                  <a:srgbClr val="202124"/>
                </a:solidFill>
                <a:latin typeface="Arial"/>
              </a:rPr>
              <a:t>Estimates use list prices; Vertex AI contract prices differ.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36" name="snap0" descr="p_call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261872"/>
            <a:ext cx="1420665" cy="320040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37" name="TextBox 136"/>
          <p:cNvSpPr txBox="1"/>
          <p:nvPr/>
        </p:nvSpPr>
        <p:spPr>
          <a:xfrm>
            <a:off x="228599" y="4507992"/>
            <a:ext cx="160354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5F6368"/>
                </a:solidFill>
                <a:latin typeface="Arial"/>
              </a:rPr>
              <a:t>Caller phone: live two-way call</a:t>
            </a:r>
          </a:p>
        </p:txBody>
      </p:sp>
      <p:pic>
        <p:nvPicPr>
          <p:cNvPr id="138" name="snap1" descr="p_paye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9305" y="1261872"/>
            <a:ext cx="1420665" cy="320040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39" name="TextBox 138"/>
          <p:cNvSpPr txBox="1"/>
          <p:nvPr/>
        </p:nvSpPr>
        <p:spPr>
          <a:xfrm>
            <a:off x="1877865" y="4507992"/>
            <a:ext cx="160354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5F6368"/>
                </a:solidFill>
                <a:latin typeface="Arial"/>
              </a:rPr>
              <a:t>Payee evidence with ledger lineage</a:t>
            </a:r>
          </a:p>
        </p:txBody>
      </p:sp>
      <p:pic>
        <p:nvPicPr>
          <p:cNvPr id="140" name="snap2" descr="p_famil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8570" y="1261872"/>
            <a:ext cx="1420665" cy="320040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41" name="TextBox 140"/>
          <p:cNvSpPr txBox="1"/>
          <p:nvPr/>
        </p:nvSpPr>
        <p:spPr>
          <a:xfrm>
            <a:off x="3527130" y="4507992"/>
            <a:ext cx="160354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5F6368"/>
                </a:solidFill>
                <a:latin typeface="Arial"/>
              </a:rPr>
              <a:t>Family phone: alert arrives</a:t>
            </a:r>
          </a:p>
        </p:txBody>
      </p:sp>
      <p:pic>
        <p:nvPicPr>
          <p:cNvPr id="142" name="snapdesk" descr="desk_cas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13556" y="1261872"/>
            <a:ext cx="2979682" cy="3200399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43" name="TextBox 142"/>
          <p:cNvSpPr txBox="1"/>
          <p:nvPr/>
        </p:nvSpPr>
        <p:spPr>
          <a:xfrm>
            <a:off x="5313556" y="4507992"/>
            <a:ext cx="297968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5F6368"/>
                </a:solidFill>
                <a:latin typeface="Arial"/>
              </a:rPr>
              <a:t>Fraud desk: case, timeline, agent versus policy, SMS contrast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44" name="perf0"/>
          <p:cNvSpPr/>
          <p:nvPr/>
        </p:nvSpPr>
        <p:spPr>
          <a:xfrm>
            <a:off x="320040" y="1261872"/>
            <a:ext cx="1874519" cy="960120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TextBox 144"/>
          <p:cNvSpPr txBox="1"/>
          <p:nvPr/>
        </p:nvSpPr>
        <p:spPr>
          <a:xfrm>
            <a:off x="429768" y="1316736"/>
            <a:ext cx="1691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188038"/>
                </a:solidFill>
                <a:latin typeface="Arial"/>
              </a:rPr>
              <a:t>1.00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29768" y="1773936"/>
            <a:ext cx="16916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02124"/>
                </a:solidFill>
                <a:latin typeface="Arial"/>
              </a:rPr>
              <a:t>Precision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F6368"/>
                </a:solidFill>
                <a:latin typeface="Arial"/>
              </a:rPr>
              <a:t>no benign call held</a:t>
            </a:r>
          </a:p>
        </p:txBody>
      </p:sp>
      <p:sp>
        <p:nvSpPr>
          <p:cNvPr id="147" name="perf1"/>
          <p:cNvSpPr/>
          <p:nvPr/>
        </p:nvSpPr>
        <p:spPr>
          <a:xfrm>
            <a:off x="2331720" y="1261872"/>
            <a:ext cx="1874519" cy="960120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8" name="TextBox 147"/>
          <p:cNvSpPr txBox="1"/>
          <p:nvPr/>
        </p:nvSpPr>
        <p:spPr>
          <a:xfrm>
            <a:off x="2441448" y="1316736"/>
            <a:ext cx="1691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188038"/>
                </a:solidFill>
                <a:latin typeface="Arial"/>
              </a:rPr>
              <a:t>1.00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441448" y="1773936"/>
            <a:ext cx="16916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02124"/>
                </a:solidFill>
                <a:latin typeface="Arial"/>
              </a:rPr>
              <a:t>Recall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F6368"/>
                </a:solidFill>
                <a:latin typeface="Arial"/>
              </a:rPr>
              <a:t>every scam call held</a:t>
            </a:r>
          </a:p>
        </p:txBody>
      </p:sp>
      <p:sp>
        <p:nvSpPr>
          <p:cNvPr id="150" name="perf2"/>
          <p:cNvSpPr/>
          <p:nvPr/>
        </p:nvSpPr>
        <p:spPr>
          <a:xfrm>
            <a:off x="320040" y="2359152"/>
            <a:ext cx="1874519" cy="960120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1" name="TextBox 150"/>
          <p:cNvSpPr txBox="1"/>
          <p:nvPr/>
        </p:nvSpPr>
        <p:spPr>
          <a:xfrm>
            <a:off x="429768" y="2414016"/>
            <a:ext cx="1691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188038"/>
                </a:solidFill>
                <a:latin typeface="Arial"/>
              </a:rPr>
              <a:t>39 / 39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29768" y="2871216"/>
            <a:ext cx="16916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02124"/>
                </a:solidFill>
                <a:latin typeface="Arial"/>
              </a:rPr>
              <a:t>Payment decisions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F6368"/>
                </a:solidFill>
                <a:latin typeface="Arial"/>
              </a:rPr>
              <a:t>correct action on every payment</a:t>
            </a:r>
          </a:p>
        </p:txBody>
      </p:sp>
      <p:sp>
        <p:nvSpPr>
          <p:cNvPr id="153" name="perf3"/>
          <p:cNvSpPr/>
          <p:nvPr/>
        </p:nvSpPr>
        <p:spPr>
          <a:xfrm>
            <a:off x="2331720" y="2359152"/>
            <a:ext cx="1874519" cy="96012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TextBox 153"/>
          <p:cNvSpPr txBox="1"/>
          <p:nvPr/>
        </p:nvSpPr>
        <p:spPr>
          <a:xfrm>
            <a:off x="2441448" y="2414016"/>
            <a:ext cx="1691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1A73E8"/>
                </a:solidFill>
                <a:latin typeface="Arial"/>
              </a:rPr>
              <a:t>93.2%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441448" y="2871216"/>
            <a:ext cx="16916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02124"/>
                </a:solidFill>
                <a:latin typeface="Arial"/>
              </a:rPr>
              <a:t>Signal accuracy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F6368"/>
                </a:solidFill>
                <a:latin typeface="Arial"/>
              </a:rPr>
              <a:t>8 signals x 50 calls</a:t>
            </a:r>
          </a:p>
        </p:txBody>
      </p:sp>
      <p:graphicFrame>
        <p:nvGraphicFramePr>
          <p:cNvPr id="156" name="Table 155"/>
          <p:cNvGraphicFramePr>
            <a:graphicFrameLocks noGrp="1"/>
          </p:cNvGraphicFramePr>
          <p:nvPr/>
        </p:nvGraphicFramePr>
        <p:xfrm>
          <a:off x="320040" y="3529584"/>
          <a:ext cx="388620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1188720"/>
                <a:gridCol w="118872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50 labelled calls</a:t>
                      </a:r>
                    </a:p>
                  </a:txBody>
                  <a:tcPr marL="54864" marR="54864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Predicted scam</a:t>
                      </a:r>
                    </a:p>
                  </a:txBody>
                  <a:tcPr marL="54864" marR="54864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Predicted benign</a:t>
                      </a:r>
                    </a:p>
                  </a:txBody>
                  <a:tcPr marL="54864" marR="54864" marT="27432" marB="27432" anchor="ctr">
                    <a:solidFill>
                      <a:srgbClr val="0B1F3A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02124"/>
                          </a:solidFill>
                          <a:latin typeface="Arial"/>
                        </a:rPr>
                        <a:t>Actual scam (25)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02124"/>
                          </a:solidFill>
                          <a:latin typeface="Arial"/>
                        </a:rPr>
                        <a:t>Actual benign (25)</a:t>
                      </a:r>
                    </a:p>
                  </a:txBody>
                  <a:tcPr marL="54864" marR="54864" marT="27432" marB="27432" anchor="ctr">
                    <a:solidFill>
                      <a:srgbClr val="F1F3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1F3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54864" marR="54864" marT="27432" marB="27432" anchor="ctr">
                    <a:solidFill>
                      <a:srgbClr val="F1F3F4"/>
                    </a:solidFill>
                  </a:tcPr>
                </a:tc>
              </a:tr>
            </a:tbl>
          </a:graphicData>
        </a:graphic>
      </p:graphicFrame>
      <p:sp>
        <p:nvSpPr>
          <p:cNvPr id="157" name="TextBox 156"/>
          <p:cNvSpPr txBox="1"/>
          <p:nvPr/>
        </p:nvSpPr>
        <p:spPr>
          <a:xfrm>
            <a:off x="320040" y="4462272"/>
            <a:ext cx="3886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5F6368"/>
                </a:solidFill>
                <a:latin typeface="Arial"/>
              </a:rPr>
              <a:t>25 scam and 25 benign calls in Hindi, Hinglish, English, Singapore English, Kannada and Tamil, including 10 legitimate-but-urgent calls and 10 scams written to dodge keywords. Self-authored set, not held-out.</a:t>
            </a:r>
          </a:p>
        </p:txBody>
      </p:sp>
      <p:graphicFrame>
        <p:nvGraphicFramePr>
          <p:cNvPr id="158" name="Table 157"/>
          <p:cNvGraphicFramePr>
            <a:graphicFrameLocks noGrp="1"/>
          </p:cNvGraphicFramePr>
          <p:nvPr/>
        </p:nvGraphicFramePr>
        <p:xfrm>
          <a:off x="4434840" y="1261872"/>
          <a:ext cx="4389120" cy="314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240280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Latency and reliability</a:t>
                      </a:r>
                    </a:p>
                  </a:txBody>
                  <a:tcPr marL="54864" marR="54864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Measured</a:t>
                      </a:r>
                    </a:p>
                  </a:txBody>
                  <a:tcPr marL="54864" marR="54864" marT="27432" marB="27432" anchor="ctr">
                    <a:solidFill>
                      <a:srgbClr val="0B1F3A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02124"/>
                          </a:solidFill>
                          <a:latin typeface="Arial"/>
                        </a:rPr>
                        <a:t>Coercion score after a sentence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3.1 s mean, 2.0 s median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02124"/>
                          </a:solidFill>
                          <a:latin typeface="Arial"/>
                        </a:rPr>
                        <a:t>Hold on screen after Pay</a:t>
                      </a:r>
                    </a:p>
                  </a:txBody>
                  <a:tcPr marL="54864" marR="54864" marT="27432" marB="27432" anchor="ctr">
                    <a:solidFill>
                      <a:srgbClr val="F1F3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0.02 to 1.4 s</a:t>
                      </a:r>
                    </a:p>
                  </a:txBody>
                  <a:tcPr marL="54864" marR="54864" marT="27432" marB="27432" anchor="ctr">
                    <a:solidFill>
                      <a:srgbClr val="F1F3F4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02124"/>
                          </a:solidFill>
                          <a:latin typeface="Arial"/>
                        </a:rPr>
                        <a:t>Spoken reason (prewarmed)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about 0.1 s after the hold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02124"/>
                          </a:solidFill>
                          <a:latin typeface="Arial"/>
                        </a:rPr>
                        <a:t>ADK agent confirmation</a:t>
                      </a:r>
                    </a:p>
                  </a:txBody>
                  <a:tcPr marL="54864" marR="54864" marT="27432" marB="27432" anchor="ctr">
                    <a:solidFill>
                      <a:srgbClr val="F1F3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5.4 to 7.2 s</a:t>
                      </a:r>
                    </a:p>
                  </a:txBody>
                  <a:tcPr marL="54864" marR="54864" marT="27432" marB="27432" anchor="ctr">
                    <a:solidFill>
                      <a:srgbClr val="F1F3F4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02124"/>
                          </a:solidFill>
                          <a:latin typeface="Arial"/>
                        </a:rPr>
                        <a:t>Live two-device audio test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3 of 3 sentences transcribed; whisper fired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02124"/>
                          </a:solidFill>
                          <a:latin typeface="Arial"/>
                        </a:rPr>
                        <a:t>Automated tests</a:t>
                      </a:r>
                    </a:p>
                  </a:txBody>
                  <a:tcPr marL="54864" marR="54864" marT="27432" marB="27432" anchor="ctr">
                    <a:solidFill>
                      <a:srgbClr val="F1F3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16 passing, incl. 3-day ledger drift</a:t>
                      </a:r>
                    </a:p>
                  </a:txBody>
                  <a:tcPr marL="54864" marR="54864" marT="27432" marB="27432" anchor="ctr">
                    <a:solidFill>
                      <a:srgbClr val="F1F3F4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02124"/>
                          </a:solidFill>
                          <a:latin typeface="Arial"/>
                        </a:rPr>
                        <a:t>Ledger stream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about 12,800 transactions in window, about 120 a minute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roadmap"/>
          <p:cNvSpPr/>
          <p:nvPr/>
        </p:nvSpPr>
        <p:spPr>
          <a:xfrm>
            <a:off x="320040" y="1261872"/>
            <a:ext cx="4160520" cy="3694176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TextBox 152"/>
          <p:cNvSpPr txBox="1"/>
          <p:nvPr/>
        </p:nvSpPr>
        <p:spPr>
          <a:xfrm>
            <a:off x="457200" y="1353312"/>
            <a:ext cx="3886200" cy="3511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A73E8"/>
                </a:solidFill>
                <a:latin typeface="Arial"/>
              </a:rPr>
              <a:t>Next with a bank or PSP partner</a:t>
            </a:r>
          </a:p>
          <a:p>
            <a:pPr algn="l" marL="146304" indent="-146304">
              <a:spcAft>
                <a:spcPts val="600"/>
              </a:spcAft>
              <a:buFont typeface="Arial"/>
              <a:buChar char="•"/>
            </a:pPr>
            <a:r>
              <a:rPr sz="1150" b="0" i="0">
                <a:solidFill>
                  <a:srgbClr val="202124"/>
                </a:solidFill>
                <a:latin typeface="Arial"/>
              </a:rPr>
              <a:t>Real ledger features in BigQuery on a schedule; DoT FRI, NPCI DPIP and I4C registry feeds</a:t>
            </a:r>
          </a:p>
          <a:p>
            <a:pPr algn="l" marL="146304" indent="-146304">
              <a:spcAft>
                <a:spcPts val="600"/>
              </a:spcAft>
              <a:buFont typeface="Arial"/>
              <a:buChar char="•"/>
            </a:pPr>
            <a:r>
              <a:rPr sz="1150" b="0" i="0">
                <a:solidFill>
                  <a:srgbClr val="202124"/>
                </a:solidFill>
                <a:latin typeface="Arial"/>
              </a:rPr>
              <a:t>On-device Tier 1 with an OS or OEM partner (Pixel scam detection to a GPay hold)</a:t>
            </a:r>
          </a:p>
          <a:p>
            <a:pPr algn="l" marL="146304" indent="-146304">
              <a:spcAft>
                <a:spcPts val="600"/>
              </a:spcAft>
              <a:buFont typeface="Arial"/>
              <a:buChar char="•"/>
            </a:pPr>
            <a:r>
              <a:rPr sz="1150" b="0" i="0">
                <a:solidFill>
                  <a:srgbClr val="202124"/>
                </a:solidFill>
                <a:latin typeface="Arial"/>
              </a:rPr>
              <a:t>Telco audio fork for cellular calls, as banks already do with call-state signals</a:t>
            </a:r>
          </a:p>
          <a:p>
            <a:pPr algn="l" marL="146304" indent="-146304">
              <a:spcAft>
                <a:spcPts val="600"/>
              </a:spcAft>
              <a:buFont typeface="Arial"/>
              <a:buChar char="•"/>
            </a:pPr>
            <a:r>
              <a:rPr sz="1150" b="0" i="0">
                <a:solidFill>
                  <a:srgbClr val="202124"/>
                </a:solidFill>
                <a:latin typeface="Arial"/>
              </a:rPr>
              <a:t>Native Android app: call-state signal, foreground service, FCM push to family</a:t>
            </a:r>
          </a:p>
          <a:p>
            <a:pPr algn="l" marL="146304" indent="-146304">
              <a:spcAft>
                <a:spcPts val="600"/>
              </a:spcAft>
              <a:buFont typeface="Arial"/>
              <a:buChar char="•"/>
            </a:pPr>
            <a:r>
              <a:rPr sz="1150" b="0" i="0">
                <a:solidFill>
                  <a:srgbClr val="202124"/>
                </a:solidFill>
                <a:latin typeface="Arial"/>
              </a:rPr>
              <a:t>Human-labelled call corpus and red-team evaluation; native-speaker QA for Indic voices</a:t>
            </a:r>
          </a:p>
          <a:p>
            <a:pPr algn="l" marL="146304" indent="-146304">
              <a:spcAft>
                <a:spcPts val="600"/>
              </a:spcAft>
              <a:buFont typeface="Arial"/>
              <a:buChar char="•"/>
            </a:pPr>
            <a:r>
              <a:rPr sz="1150" b="0" i="0">
                <a:solidFill>
                  <a:srgbClr val="202124"/>
                </a:solidFill>
                <a:latin typeface="Arial"/>
              </a:rPr>
              <a:t>Model-risk evidence pack for RBI FREE-AI and MAS AI risk guidelines</a:t>
            </a:r>
          </a:p>
        </p:txBody>
      </p:sp>
      <p:sp>
        <p:nvSpPr>
          <p:cNvPr id="154" name="limits"/>
          <p:cNvSpPr/>
          <p:nvPr/>
        </p:nvSpPr>
        <p:spPr>
          <a:xfrm>
            <a:off x="4663440" y="1261872"/>
            <a:ext cx="4160520" cy="3694176"/>
          </a:xfrm>
          <a:prstGeom prst="roundRect">
            <a:avLst>
              <a:gd name="adj" fmla="val 6000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TextBox 154"/>
          <p:cNvSpPr txBox="1"/>
          <p:nvPr/>
        </p:nvSpPr>
        <p:spPr>
          <a:xfrm>
            <a:off x="4800600" y="1353312"/>
            <a:ext cx="3886200" cy="3511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B06000"/>
                </a:solidFill>
                <a:latin typeface="Arial"/>
              </a:rPr>
              <a:t>Honest limits of this prototype</a:t>
            </a:r>
          </a:p>
          <a:p>
            <a:pPr algn="l" marL="146304" indent="-146304">
              <a:spcAft>
                <a:spcPts val="600"/>
              </a:spcAft>
              <a:buFont typeface="Arial"/>
              <a:buChar char="•"/>
            </a:pPr>
            <a:r>
              <a:rPr sz="1150" b="0" i="0">
                <a:solidFill>
                  <a:srgbClr val="202124"/>
                </a:solidFill>
                <a:latin typeface="Arial"/>
              </a:rPr>
              <a:t>Synthetic ledger and scripted calls; no bank partner yet</a:t>
            </a:r>
          </a:p>
          <a:p>
            <a:pPr algn="l" marL="146304" indent="-146304">
              <a:spcAft>
                <a:spcPts val="600"/>
              </a:spcAft>
              <a:buFont typeface="Arial"/>
              <a:buChar char="•"/>
            </a:pPr>
            <a:r>
              <a:rPr sz="1150" b="0" i="0">
                <a:solidFill>
                  <a:srgbClr val="202124"/>
                </a:solidFill>
                <a:latin typeface="Arial"/>
              </a:rPr>
              <a:t>Third-party apps cannot tap cellular calls on Android or iOS, so live audio uses in-app calls or a telco bridge</a:t>
            </a:r>
          </a:p>
          <a:p>
            <a:pPr algn="l" marL="146304" indent="-146304">
              <a:spcAft>
                <a:spcPts val="600"/>
              </a:spcAft>
              <a:buFont typeface="Arial"/>
              <a:buChar char="•"/>
            </a:pPr>
            <a:r>
              <a:rPr sz="1150" b="0" i="0">
                <a:solidFill>
                  <a:srgbClr val="202124"/>
                </a:solidFill>
                <a:latin typeface="Arial"/>
              </a:rPr>
              <a:t>The Twilio phone bridge is one-way: the spoken hold stays on the app</a:t>
            </a:r>
          </a:p>
          <a:p>
            <a:pPr algn="l" marL="146304" indent="-146304">
              <a:spcAft>
                <a:spcPts val="600"/>
              </a:spcAft>
              <a:buFont typeface="Arial"/>
              <a:buChar char="•"/>
            </a:pPr>
            <a:r>
              <a:rPr sz="1150" b="0" i="0">
                <a:solidFill>
                  <a:srgbClr val="202124"/>
                </a:solidFill>
                <a:latin typeface="Arial"/>
              </a:rPr>
              <a:t>Kannada and Tamil voices not yet tested with native speakers</a:t>
            </a:r>
          </a:p>
          <a:p>
            <a:pPr algn="l" marL="146304" indent="-146304">
              <a:spcAft>
                <a:spcPts val="600"/>
              </a:spcAft>
              <a:buFont typeface="Arial"/>
              <a:buChar char="•"/>
            </a:pPr>
            <a:r>
              <a:rPr sz="1150" b="0" i="0">
                <a:solidFill>
                  <a:srgbClr val="202124"/>
                </a:solidFill>
                <a:latin typeface="Arial"/>
              </a:rPr>
              <a:t>One Cloud Run instance holds live call sessions; scale-out needs shared session state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</a:t>
            </a:r>
            <a:r>
              <a:rPr lang="en-GB" b="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: https://github.com/devaramanelohith/rakshak-agent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</a:t>
            </a:r>
            <a:r>
              <a:rPr lang="en-GB" b="1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: [paste the public YouTube link here]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</a:t>
            </a:r>
            <a:r>
              <a:rPr lang="en-GB" b="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: https://rakshak-223197895518.asia-southeast1.run.app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60" name="howtotest"/>
          <p:cNvSpPr/>
          <p:nvPr/>
        </p:nvSpPr>
        <p:spPr>
          <a:xfrm>
            <a:off x="320040" y="2194560"/>
            <a:ext cx="8503920" cy="196596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1" name="TextBox 160"/>
          <p:cNvSpPr txBox="1"/>
          <p:nvPr/>
        </p:nvSpPr>
        <p:spPr>
          <a:xfrm>
            <a:off x="484632" y="2286000"/>
            <a:ext cx="397764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A73E8"/>
                </a:solidFill>
                <a:latin typeface="Arial"/>
              </a:rPr>
              <a:t>Try it in 60 seconds (one device)</a:t>
            </a:r>
          </a:p>
          <a:p>
            <a:pPr algn="l" marL="146304" indent="-146304">
              <a:spcAft>
                <a:spcPts val="300"/>
              </a:spcAft>
              <a:buFont typeface="Arial"/>
              <a:buChar char="•"/>
            </a:pPr>
            <a:r>
              <a:rPr sz="1000" b="0" i="0">
                <a:solidFill>
                  <a:srgbClr val="202124"/>
                </a:solidFill>
                <a:latin typeface="Arial"/>
              </a:rPr>
              <a:t>Open the product link, tap Test an incoming call</a:t>
            </a:r>
          </a:p>
          <a:p>
            <a:pPr algn="l" marL="146304" indent="-146304">
              <a:spcAft>
                <a:spcPts val="300"/>
              </a:spcAft>
              <a:buFont typeface="Arial"/>
              <a:buChar char="•"/>
            </a:pPr>
            <a:r>
              <a:rPr sz="1000" b="0" i="0">
                <a:solidFill>
                  <a:srgbClr val="202124"/>
                </a:solidFill>
                <a:latin typeface="Arial"/>
              </a:rPr>
              <a:t>Choose Cyber Crime Branch (English), tap Auto-play script</a:t>
            </a:r>
          </a:p>
          <a:p>
            <a:pPr algn="l" marL="146304" indent="-146304">
              <a:spcAft>
                <a:spcPts val="300"/>
              </a:spcAft>
              <a:buFont typeface="Arial"/>
              <a:buChar char="•"/>
            </a:pPr>
            <a:r>
              <a:rPr sz="1000" b="0" i="0">
                <a:solidFill>
                  <a:srgbClr val="202124"/>
                </a:solidFill>
                <a:latin typeface="Arial"/>
              </a:rPr>
              <a:t>When asked to pay, tap Open UPI pay, then Pay</a:t>
            </a:r>
          </a:p>
          <a:p>
            <a:pPr algn="l" marL="146304" indent="-146304">
              <a:spcAft>
                <a:spcPts val="300"/>
              </a:spcAft>
              <a:buFont typeface="Arial"/>
              <a:buChar char="•"/>
            </a:pPr>
            <a:r>
              <a:rPr sz="1000" b="0" i="0">
                <a:solidFill>
                  <a:srgbClr val="202124"/>
                </a:solidFill>
                <a:latin typeface="Arial"/>
              </a:rPr>
              <a:t>Watch the hold, hear Rakshak, open /desk for the case</a:t>
            </a:r>
          </a:p>
          <a:p>
            <a:pPr algn="l" marL="146304" indent="-146304">
              <a:spcAft>
                <a:spcPts val="300"/>
              </a:spcAft>
              <a:buFont typeface="Arial"/>
              <a:buChar char="•"/>
            </a:pPr>
            <a:r>
              <a:rPr sz="1000" b="0" i="0">
                <a:solidFill>
                  <a:srgbClr val="202124"/>
                </a:solidFill>
                <a:latin typeface="Arial"/>
              </a:rPr>
              <a:t>Balance PIN for the demo: 1234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572000" y="2286000"/>
            <a:ext cx="406908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C5221F"/>
                </a:solidFill>
                <a:latin typeface="Arial"/>
              </a:rPr>
              <a:t>Live two-way call (two phones)</a:t>
            </a:r>
          </a:p>
          <a:p>
            <a:pPr algn="l" marL="146304" indent="-146304">
              <a:spcAft>
                <a:spcPts val="300"/>
              </a:spcAft>
              <a:buFont typeface="Arial"/>
              <a:buChar char="•"/>
            </a:pPr>
            <a:r>
              <a:rPr sz="1000" b="0" i="0">
                <a:solidFill>
                  <a:srgbClr val="202124"/>
                </a:solidFill>
                <a:latin typeface="Arial"/>
              </a:rPr>
              <a:t>Customer phone: /?session=demo1&amp;user=demo-user</a:t>
            </a:r>
          </a:p>
          <a:p>
            <a:pPr algn="l" marL="146304" indent="-146304">
              <a:spcAft>
                <a:spcPts val="300"/>
              </a:spcAft>
              <a:buFont typeface="Arial"/>
              <a:buChar char="•"/>
            </a:pPr>
            <a:r>
              <a:rPr sz="1000" b="0" i="0">
                <a:solidFill>
                  <a:srgbClr val="202124"/>
                </a:solidFill>
                <a:latin typeface="Arial"/>
              </a:rPr>
              <a:t>Caller phone: /call?session=demo1, tap Call</a:t>
            </a:r>
          </a:p>
          <a:p>
            <a:pPr algn="l" marL="146304" indent="-146304">
              <a:spcAft>
                <a:spcPts val="300"/>
              </a:spcAft>
              <a:buFont typeface="Arial"/>
              <a:buChar char="•"/>
            </a:pPr>
            <a:r>
              <a:rPr sz="1000" b="0" i="0">
                <a:solidFill>
                  <a:srgbClr val="202124"/>
                </a:solidFill>
                <a:latin typeface="Arial"/>
              </a:rPr>
              <a:t>Family phone: /family?user=demo-user</a:t>
            </a:r>
          </a:p>
          <a:p>
            <a:pPr algn="l" marL="146304" indent="-146304">
              <a:spcAft>
                <a:spcPts val="300"/>
              </a:spcAft>
              <a:buFont typeface="Arial"/>
              <a:buChar char="•"/>
            </a:pPr>
            <a:r>
              <a:rPr sz="1000" b="0" i="0">
                <a:solidFill>
                  <a:srgbClr val="202124"/>
                </a:solidFill>
                <a:latin typeface="Arial"/>
              </a:rPr>
              <a:t>Fraud desk: /desk</a:t>
            </a:r>
          </a:p>
          <a:p>
            <a:pPr algn="l" marL="146304" indent="-146304">
              <a:spcAft>
                <a:spcPts val="300"/>
              </a:spcAft>
              <a:buFont typeface="Arial"/>
              <a:buChar char="•"/>
            </a:pPr>
            <a:r>
              <a:rPr sz="1000" b="0" i="0">
                <a:solidFill>
                  <a:srgbClr val="202124"/>
                </a:solidFill>
                <a:latin typeface="Arial"/>
              </a:rPr>
              <a:t>Hindi customer: &amp;user=demo-user-hi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Privacy by design, and how it works on a real cellular call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graphicFrame>
        <p:nvGraphicFramePr>
          <p:cNvPr id="167" name="Table 166"/>
          <p:cNvGraphicFramePr>
            <a:graphicFrameLocks noGrp="1"/>
          </p:cNvGraphicFramePr>
          <p:nvPr/>
        </p:nvGraphicFramePr>
        <p:xfrm>
          <a:off x="320040" y="1261872"/>
          <a:ext cx="51206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057400"/>
                <a:gridCol w="17373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Tier</a:t>
                      </a:r>
                    </a:p>
                  </a:txBody>
                  <a:tcPr marL="54864" marR="54864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What Rakshak uses</a:t>
                      </a:r>
                    </a:p>
                  </a:txBody>
                  <a:tcPr marL="54864" marR="54864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What leaves the phone</a:t>
                      </a:r>
                    </a:p>
                  </a:txBody>
                  <a:tcPr marL="54864" marR="54864" marT="27432" marB="27432" anchor="ctr"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02124"/>
                          </a:solidFill>
                          <a:latin typeface="Arial"/>
                        </a:rPr>
                        <a:t>0: no audio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Call from an unknown number + pay screen + payee risk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Only the payment request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02124"/>
                          </a:solidFill>
                          <a:latin typeface="Arial"/>
                        </a:rPr>
                        <a:t>1: on-device text</a:t>
                      </a:r>
                    </a:p>
                  </a:txBody>
                  <a:tcPr marL="54864" marR="54864" marT="27432" marB="27432" anchor="ctr">
                    <a:solidFill>
                      <a:srgbClr val="F1F3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Rolling 60 s transcript kept on the phone</a:t>
                      </a:r>
                    </a:p>
                  </a:txBody>
                  <a:tcPr marL="54864" marR="54864" marT="27432" marB="27432" anchor="ctr">
                    <a:solidFill>
                      <a:srgbClr val="F1F3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Scores and last 60 s, only if a payment is attempted</a:t>
                      </a:r>
                    </a:p>
                  </a:txBody>
                  <a:tcPr marL="54864" marR="54864" marT="27432" marB="27432" anchor="ctr">
                    <a:solidFill>
                      <a:srgbClr val="F1F3F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02124"/>
                          </a:solidFill>
                          <a:latin typeface="Arial"/>
                        </a:rPr>
                        <a:t>2: cloud (this prototype)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Live transcription through a lawful channel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Audio stream, never stored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8" name="TextBox 167"/>
          <p:cNvSpPr txBox="1"/>
          <p:nvPr/>
        </p:nvSpPr>
        <p:spPr>
          <a:xfrm>
            <a:off x="320040" y="3227832"/>
            <a:ext cx="51206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73E8"/>
                </a:solidFill>
                <a:latin typeface="Arial"/>
              </a:rPr>
              <a:t>Rules at every tier</a:t>
            </a:r>
          </a:p>
          <a:p>
            <a:pPr algn="l" marL="146304" indent="-146304">
              <a:spcAft>
                <a:spcPts val="300"/>
              </a:spcAft>
              <a:buFont typeface="Arial"/>
              <a:buChar char="•"/>
            </a:pPr>
            <a:r>
              <a:rPr sz="1000" b="0" i="0">
                <a:solidFill>
                  <a:srgbClr val="202124"/>
                </a:solidFill>
                <a:latin typeface="Arial"/>
              </a:rPr>
              <a:t>Guardian mode is opt-in with a visible listening indicator</a:t>
            </a:r>
          </a:p>
          <a:p>
            <a:pPr algn="l" marL="146304" indent="-146304">
              <a:spcAft>
                <a:spcPts val="300"/>
              </a:spcAft>
              <a:buFont typeface="Arial"/>
              <a:buChar char="•"/>
            </a:pPr>
            <a:r>
              <a:rPr sz="1000" b="0" i="0">
                <a:solidFill>
                  <a:srgbClr val="202124"/>
                </a:solidFill>
                <a:latin typeface="Arial"/>
              </a:rPr>
              <a:t>The caller never hears Rakshak; holds expire; the customer can override</a:t>
            </a:r>
          </a:p>
          <a:p>
            <a:pPr algn="l" marL="146304" indent="-146304">
              <a:spcAft>
                <a:spcPts val="300"/>
              </a:spcAft>
              <a:buFont typeface="Arial"/>
              <a:buChar char="•"/>
            </a:pPr>
            <a:r>
              <a:rPr sz="1000" b="0" i="0">
                <a:solidFill>
                  <a:srgbClr val="202124"/>
                </a:solidFill>
                <a:latin typeface="Arial"/>
              </a:rPr>
              <a:t>Raw audio is never written to disk; cases are kept for the bank's audit trail</a:t>
            </a:r>
          </a:p>
        </p:txBody>
      </p:sp>
      <p:sp>
        <p:nvSpPr>
          <p:cNvPr id="169" name="cellular"/>
          <p:cNvSpPr/>
          <p:nvPr/>
        </p:nvSpPr>
        <p:spPr>
          <a:xfrm>
            <a:off x="5669280" y="1261872"/>
            <a:ext cx="3154680" cy="3694176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0" name="TextBox 169"/>
          <p:cNvSpPr txBox="1"/>
          <p:nvPr/>
        </p:nvSpPr>
        <p:spPr>
          <a:xfrm>
            <a:off x="5806440" y="1353312"/>
            <a:ext cx="2880360" cy="3511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A73E8"/>
                </a:solidFill>
                <a:latin typeface="Arial"/>
              </a:rPr>
              <a:t>Real cellular calls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202124"/>
                </a:solidFill>
                <a:latin typeface="Arial"/>
              </a:rPr>
              <a:t>No third-party app can read cellular call audio on Android 10+ or iOS. Rakshak therefore runs on the bank side and receives audio only through lawful channels:</a:t>
            </a:r>
          </a:p>
          <a:p>
            <a:pPr algn="l" marL="146304" indent="-146304">
              <a:spcAft>
                <a:spcPts val="300"/>
              </a:spcAft>
              <a:buFont typeface="Arial"/>
              <a:buChar char="•"/>
            </a:pPr>
            <a:r>
              <a:rPr sz="1000" b="0" i="0">
                <a:solidFill>
                  <a:srgbClr val="202124"/>
                </a:solidFill>
                <a:latin typeface="Arial"/>
              </a:rPr>
              <a:t>the bank's own in-app or verified calls (shown in the demo)</a:t>
            </a:r>
          </a:p>
          <a:p>
            <a:pPr algn="l" marL="146304" indent="-146304">
              <a:spcAft>
                <a:spcPts val="300"/>
              </a:spcAft>
              <a:buFont typeface="Arial"/>
              <a:buChar char="•"/>
            </a:pPr>
            <a:r>
              <a:rPr sz="1000" b="0" i="0">
                <a:solidFill>
                  <a:srgbClr val="202124"/>
                </a:solidFill>
                <a:latin typeface="Arial"/>
              </a:rPr>
              <a:t>a telco audio fork with consent (FICO Scam Signal precedent)</a:t>
            </a:r>
          </a:p>
          <a:p>
            <a:pPr algn="l" marL="146304" indent="-146304">
              <a:spcAft>
                <a:spcPts val="300"/>
              </a:spcAft>
              <a:buFont typeface="Arial"/>
              <a:buChar char="•"/>
            </a:pPr>
            <a:r>
              <a:rPr sz="1000" b="0" i="0">
                <a:solidFill>
                  <a:srgbClr val="202124"/>
                </a:solidFill>
                <a:latin typeface="Arial"/>
              </a:rPr>
              <a:t>an OS vendor feed: Google can connect Pixel scam detection to a GPay hold</a:t>
            </a:r>
          </a:p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02124"/>
                </a:solidFill>
                <a:latin typeface="Arial"/>
              </a:rPr>
              <a:t>Without audio, Tier 0 still holds risky payments to mule accounts during unknown calls.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Rakshak by Prod Pilots</dc:title>
  <cp:lastModifiedBy>python-pptx</cp:lastModifiedBy>
  <cp:revision>1</cp:revision>
  <dcterms:modified xsi:type="dcterms:W3CDTF">2026-10-17T18:56:47Z</dcterms:modified>
  <dc:creator>Prod Pilots (Lohith DS)</dc:creator>
</cp:coreProperties>
</file>